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PDFs are uploaded and indexed once (extract -&gt; chunk -&gt; embed -&gt; FAISS). Every question then goes through hybrid retrieval against that index, and Groq generates the final cited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Vector search alone fails on broad 'summarize this' questions because there's no single matching passage. It also struggles with numeric identifiers like task numbers, since embeddings capture meaning, not exact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image" Target="../media/image-9-1.png"/><Relationship Id="rId4"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3D62"/>
          </a:solidFill>
          <a:ln/>
        </p:spPr>
      </p:sp>
      <p:pic>
        <p:nvPicPr>
          <p:cNvPr id="3" name="Image 0" descr="/home/claude/pdf_rag/presentation/icons_chat.png">    </p:cNvPr>
          <p:cNvPicPr>
            <a:picLocks noChangeAspect="1"/>
          </p:cNvPicPr>
          <p:nvPr/>
        </p:nvPicPr>
        <p:blipFill>
          <a:blip r:embed="rId1">
            <a:alphaModFix amt="85000"/>
          </a:blip>
          <a:stretch>
            <a:fillRect/>
          </a:stretch>
        </p:blipFill>
        <p:spPr>
          <a:xfrm>
            <a:off x="10085832" y="548640"/>
            <a:ext cx="1188720" cy="1188720"/>
          </a:xfrm>
          <a:prstGeom prst="rect">
            <a:avLst/>
          </a:prstGeom>
        </p:spPr>
      </p:pic>
      <p:sp>
        <p:nvSpPr>
          <p:cNvPr id="4" name="Text 1"/>
          <p:cNvSpPr/>
          <p:nvPr/>
        </p:nvSpPr>
        <p:spPr>
          <a:xfrm>
            <a:off x="822960" y="2286000"/>
            <a:ext cx="10543032"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Chat With Your PDF</a:t>
            </a:r>
            <a:endParaRPr lang="en-US" sz="4400" dirty="0"/>
          </a:p>
        </p:txBody>
      </p:sp>
      <p:sp>
        <p:nvSpPr>
          <p:cNvPr id="5" name="Text 2"/>
          <p:cNvSpPr/>
          <p:nvPr/>
        </p:nvSpPr>
        <p:spPr>
          <a:xfrm>
            <a:off x="822960" y="3246120"/>
            <a:ext cx="10543032"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 Retrieval-Augmented Generation System</a:t>
            </a:r>
            <a:endParaRPr lang="en-US" sz="2000" dirty="0"/>
          </a:p>
        </p:txBody>
      </p:sp>
      <p:sp>
        <p:nvSpPr>
          <p:cNvPr id="6" name="Text 3"/>
          <p:cNvSpPr/>
          <p:nvPr/>
        </p:nvSpPr>
        <p:spPr>
          <a:xfrm>
            <a:off x="822960" y="3886200"/>
            <a:ext cx="5486400" cy="365760"/>
          </a:xfrm>
          <a:prstGeom prst="rect">
            <a:avLst/>
          </a:prstGeom>
          <a:noFill/>
          <a:ln/>
        </p:spPr>
        <p:txBody>
          <a:bodyPr wrap="square" lIns="0" tIns="0" rIns="0" bIns="0" rtlCol="0" anchor="ctr"/>
          <a:lstStyle/>
          <a:p>
            <a:pPr indent="0" marL="0">
              <a:buNone/>
            </a:pPr>
            <a:r>
              <a:rPr lang="en-US" sz="1400" i="1" dirty="0">
                <a:solidFill>
                  <a:srgbClr val="8FA8C2"/>
                </a:solidFill>
                <a:latin typeface="Calibri" pitchFamily="34" charset="0"/>
                <a:ea typeface="Calibri" pitchFamily="34" charset="-122"/>
                <a:cs typeface="Calibri" pitchFamily="34" charset="-120"/>
              </a:rPr>
              <a:t>[Mini Project]</a:t>
            </a:r>
            <a:endParaRPr lang="en-US" sz="1400" dirty="0"/>
          </a:p>
        </p:txBody>
      </p:sp>
      <p:sp>
        <p:nvSpPr>
          <p:cNvPr id="7" name="Text 4"/>
          <p:cNvSpPr/>
          <p:nvPr/>
        </p:nvSpPr>
        <p:spPr>
          <a:xfrm>
            <a:off x="822960" y="5943600"/>
            <a:ext cx="731520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[Student Name]</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[College Name]  |  [2025-2026]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problem</a:t>
            </a:r>
            <a:endParaRPr lang="en-US" sz="3000" dirty="0"/>
          </a:p>
        </p:txBody>
      </p:sp>
      <p:sp>
        <p:nvSpPr>
          <p:cNvPr id="3" name="Text 1"/>
          <p:cNvSpPr/>
          <p:nvPr/>
        </p:nvSpPr>
        <p:spPr>
          <a:xfrm>
            <a:off x="548640" y="1463040"/>
            <a:ext cx="6400800" cy="4114800"/>
          </a:xfrm>
          <a:prstGeom prst="rect">
            <a:avLst/>
          </a:prstGeom>
          <a:noFill/>
          <a:ln/>
        </p:spPr>
        <p:txBody>
          <a:bodyPr wrap="square" lIns="0" tIns="0" rIns="0" bIns="0" rtlCol="0" anchor="t"/>
          <a:lstStyle/>
          <a:p>
            <a:pPr indent="0" marL="0">
              <a:lnSpc>
                <a:spcPct val="115000"/>
              </a:lnSpc>
              <a:spcAft>
                <a:spcPts val="1000"/>
              </a:spcAft>
              <a:buNone/>
            </a:pPr>
            <a:r>
              <a:rPr lang="en-US" sz="1600" b="1" dirty="0">
                <a:solidFill>
                  <a:srgbClr val="1A1A1A"/>
                </a:solidFill>
                <a:latin typeface="Calibri" pitchFamily="34" charset="0"/>
                <a:ea typeface="Calibri" pitchFamily="34" charset="-122"/>
                <a:cs typeface="Calibri" pitchFamily="34" charset="-120"/>
              </a:rPr>
              <a:t>Large language models are powerful, but they don't know what's inside your PDFs</a:t>
            </a:r>
            <a:endParaRPr lang="en-US" sz="1600" dirty="0"/>
          </a:p>
          <a:p>
            <a:pPr marL="342900" indent="-342900">
              <a:lnSpc>
                <a:spcPct val="115000"/>
              </a:lnSpc>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Keyword search misses matches when a question uses different words than the document</a:t>
            </a:r>
            <a:endParaRPr lang="en-US" sz="1600" dirty="0"/>
          </a:p>
          <a:p>
            <a:pPr marL="342900" indent="-342900">
              <a:lnSpc>
                <a:spcPct val="115000"/>
              </a:lnSpc>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Asking an LLM directly about a private document risks hallucinated, plausible-sounding but wrong answers</a:t>
            </a:r>
            <a:endParaRPr lang="en-US" sz="1600" dirty="0"/>
          </a:p>
          <a:p>
            <a:pPr marL="342900" indent="-342900">
              <a:lnSpc>
                <a:spcPct val="115000"/>
              </a:lnSpc>
              <a:buSzPct val="100000"/>
              <a:buChar char="•"/>
            </a:pPr>
            <a:r>
              <a:rPr lang="en-US" sz="1600" dirty="0">
                <a:solidFill>
                  <a:srgbClr val="1A1A1A"/>
                </a:solidFill>
                <a:latin typeface="Calibri" pitchFamily="34" charset="0"/>
                <a:ea typeface="Calibri" pitchFamily="34" charset="-122"/>
                <a:cs typeface="Calibri" pitchFamily="34" charset="-120"/>
              </a:rPr>
              <a:t>There's no easy way to ask natural-language questions and get answers grounded in a specific document</a:t>
            </a:r>
            <a:endParaRPr lang="en-US" sz="1600" dirty="0"/>
          </a:p>
        </p:txBody>
      </p:sp>
      <p:sp>
        <p:nvSpPr>
          <p:cNvPr id="4" name="Shape 2"/>
          <p:cNvSpPr/>
          <p:nvPr/>
        </p:nvSpPr>
        <p:spPr>
          <a:xfrm>
            <a:off x="7406640" y="1737360"/>
            <a:ext cx="4206240" cy="3291840"/>
          </a:xfrm>
          <a:prstGeom prst="roundRect">
            <a:avLst>
              <a:gd name="adj" fmla="val 3333"/>
            </a:avLst>
          </a:prstGeom>
          <a:solidFill>
            <a:srgbClr val="F5F6F7"/>
          </a:solidFill>
          <a:ln w="12700">
            <a:solidFill>
              <a:srgbClr val="E2E4E8"/>
            </a:solidFill>
            <a:prstDash val="solid"/>
          </a:ln>
        </p:spPr>
      </p:sp>
      <p:sp>
        <p:nvSpPr>
          <p:cNvPr id="5" name="Shape 3"/>
          <p:cNvSpPr/>
          <p:nvPr/>
        </p:nvSpPr>
        <p:spPr>
          <a:xfrm>
            <a:off x="7772400" y="2057400"/>
            <a:ext cx="731520" cy="731520"/>
          </a:xfrm>
          <a:prstGeom prst="ellipse">
            <a:avLst/>
          </a:prstGeom>
          <a:solidFill>
            <a:srgbClr val="534AB7"/>
          </a:solidFill>
          <a:ln/>
        </p:spPr>
      </p:sp>
      <p:pic>
        <p:nvPicPr>
          <p:cNvPr id="6" name="Image 0" descr="/home/claude/pdf_rag/presentation/icons_warning.png">    </p:cNvPr>
          <p:cNvPicPr>
            <a:picLocks noChangeAspect="1"/>
          </p:cNvPicPr>
          <p:nvPr/>
        </p:nvPicPr>
        <p:blipFill>
          <a:blip r:embed="rId1"/>
          <a:stretch>
            <a:fillRect/>
          </a:stretch>
        </p:blipFill>
        <p:spPr>
          <a:xfrm>
            <a:off x="7845552" y="2130552"/>
            <a:ext cx="585216" cy="585216"/>
          </a:xfrm>
          <a:prstGeom prst="rect">
            <a:avLst/>
          </a:prstGeom>
        </p:spPr>
      </p:pic>
      <p:sp>
        <p:nvSpPr>
          <p:cNvPr id="7" name="Text 4"/>
          <p:cNvSpPr/>
          <p:nvPr/>
        </p:nvSpPr>
        <p:spPr>
          <a:xfrm>
            <a:off x="7680960" y="2971800"/>
            <a:ext cx="3566160" cy="1737360"/>
          </a:xfrm>
          <a:prstGeom prst="rect">
            <a:avLst/>
          </a:prstGeom>
          <a:noFill/>
          <a:ln/>
        </p:spPr>
        <p:txBody>
          <a:bodyPr wrap="square" lIns="0" tIns="0" rIns="0" bIns="0" rtlCol="0" anchor="ctr"/>
          <a:lstStyle/>
          <a:p>
            <a:pPr algn="l" indent="0" marL="0">
              <a:buNone/>
            </a:pPr>
            <a:r>
              <a:rPr lang="en-US" sz="1600" i="1" dirty="0">
                <a:solidFill>
                  <a:srgbClr val="0B3D62"/>
                </a:solidFill>
                <a:latin typeface="Cambria" pitchFamily="34" charset="0"/>
                <a:ea typeface="Cambria" pitchFamily="34" charset="-122"/>
                <a:cs typeface="Cambria" pitchFamily="34" charset="-120"/>
              </a:rPr>
              <a:t>“What does this 40-page PDF actually say about task 3.2.2?”</a:t>
            </a:r>
            <a:endParaRPr lang="en-US" sz="1600" dirty="0"/>
          </a:p>
        </p:txBody>
      </p:sp>
      <p:sp>
        <p:nvSpPr>
          <p:cNvPr id="8" name="Text 5"/>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Objectives</a:t>
            </a:r>
            <a:endParaRPr lang="en-US" sz="3000" dirty="0"/>
          </a:p>
        </p:txBody>
      </p:sp>
      <p:sp>
        <p:nvSpPr>
          <p:cNvPr id="3" name="Shape 1"/>
          <p:cNvSpPr/>
          <p:nvPr/>
        </p:nvSpPr>
        <p:spPr>
          <a:xfrm>
            <a:off x="548640" y="1645920"/>
            <a:ext cx="685800" cy="685800"/>
          </a:xfrm>
          <a:prstGeom prst="ellipse">
            <a:avLst/>
          </a:prstGeom>
          <a:solidFill>
            <a:srgbClr val="0B3D62"/>
          </a:solidFill>
          <a:ln/>
        </p:spPr>
      </p:sp>
      <p:pic>
        <p:nvPicPr>
          <p:cNvPr id="4" name="Image 0" descr="/home/claude/pdf_rag/presentation/icons_upload.png">    </p:cNvPr>
          <p:cNvPicPr>
            <a:picLocks noChangeAspect="1"/>
          </p:cNvPicPr>
          <p:nvPr/>
        </p:nvPicPr>
        <p:blipFill>
          <a:blip r:embed="rId1"/>
          <a:stretch>
            <a:fillRect/>
          </a:stretch>
        </p:blipFill>
        <p:spPr>
          <a:xfrm>
            <a:off x="617220" y="1714500"/>
            <a:ext cx="548640" cy="548640"/>
          </a:xfrm>
          <a:prstGeom prst="rect">
            <a:avLst/>
          </a:prstGeom>
        </p:spPr>
      </p:pic>
      <p:sp>
        <p:nvSpPr>
          <p:cNvPr id="5" name="Text 2"/>
          <p:cNvSpPr/>
          <p:nvPr/>
        </p:nvSpPr>
        <p:spPr>
          <a:xfrm>
            <a:off x="1463040" y="155448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Build a searchable knowledge base</a:t>
            </a:r>
            <a:endParaRPr lang="en-US" sz="1600" dirty="0"/>
          </a:p>
        </p:txBody>
      </p:sp>
      <p:sp>
        <p:nvSpPr>
          <p:cNvPr id="6" name="Text 3"/>
          <p:cNvSpPr/>
          <p:nvPr/>
        </p:nvSpPr>
        <p:spPr>
          <a:xfrm>
            <a:off x="1463040" y="196596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Convert PDF documents into an indexed, queryable form</a:t>
            </a:r>
            <a:endParaRPr lang="en-US" sz="1300" dirty="0"/>
          </a:p>
        </p:txBody>
      </p:sp>
      <p:sp>
        <p:nvSpPr>
          <p:cNvPr id="7" name="Shape 4"/>
          <p:cNvSpPr/>
          <p:nvPr/>
        </p:nvSpPr>
        <p:spPr>
          <a:xfrm>
            <a:off x="6400800" y="1645920"/>
            <a:ext cx="685800" cy="685800"/>
          </a:xfrm>
          <a:prstGeom prst="ellipse">
            <a:avLst/>
          </a:prstGeom>
          <a:solidFill>
            <a:srgbClr val="0B3D62"/>
          </a:solidFill>
          <a:ln/>
        </p:spPr>
      </p:sp>
      <p:pic>
        <p:nvPicPr>
          <p:cNvPr id="8" name="Image 1" descr="/home/claude/pdf_rag/presentation/icons_search.png">    </p:cNvPr>
          <p:cNvPicPr>
            <a:picLocks noChangeAspect="1"/>
          </p:cNvPicPr>
          <p:nvPr/>
        </p:nvPicPr>
        <p:blipFill>
          <a:blip r:embed="rId2"/>
          <a:stretch>
            <a:fillRect/>
          </a:stretch>
        </p:blipFill>
        <p:spPr>
          <a:xfrm>
            <a:off x="6469380" y="1714500"/>
            <a:ext cx="548640" cy="548640"/>
          </a:xfrm>
          <a:prstGeom prst="rect">
            <a:avLst/>
          </a:prstGeom>
        </p:spPr>
      </p:pic>
      <p:sp>
        <p:nvSpPr>
          <p:cNvPr id="9" name="Text 5"/>
          <p:cNvSpPr/>
          <p:nvPr/>
        </p:nvSpPr>
        <p:spPr>
          <a:xfrm>
            <a:off x="7315200" y="155448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Retrieve relevant content accurately</a:t>
            </a:r>
            <a:endParaRPr lang="en-US" sz="1600" dirty="0"/>
          </a:p>
        </p:txBody>
      </p:sp>
      <p:sp>
        <p:nvSpPr>
          <p:cNvPr id="10" name="Text 6"/>
          <p:cNvSpPr/>
          <p:nvPr/>
        </p:nvSpPr>
        <p:spPr>
          <a:xfrm>
            <a:off x="7315200" y="196596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Combine semantic and exact-match search for precision</a:t>
            </a:r>
            <a:endParaRPr lang="en-US" sz="1300" dirty="0"/>
          </a:p>
        </p:txBody>
      </p:sp>
      <p:sp>
        <p:nvSpPr>
          <p:cNvPr id="11" name="Shape 7"/>
          <p:cNvSpPr/>
          <p:nvPr/>
        </p:nvSpPr>
        <p:spPr>
          <a:xfrm>
            <a:off x="548640" y="3337560"/>
            <a:ext cx="685800" cy="685800"/>
          </a:xfrm>
          <a:prstGeom prst="ellipse">
            <a:avLst/>
          </a:prstGeom>
          <a:solidFill>
            <a:srgbClr val="0B3D62"/>
          </a:solidFill>
          <a:ln/>
        </p:spPr>
      </p:sp>
      <p:pic>
        <p:nvPicPr>
          <p:cNvPr id="12" name="Image 2" descr="/home/claude/pdf_rag/presentation/icons_robot.png">    </p:cNvPr>
          <p:cNvPicPr>
            <a:picLocks noChangeAspect="1"/>
          </p:cNvPicPr>
          <p:nvPr/>
        </p:nvPicPr>
        <p:blipFill>
          <a:blip r:embed="rId3"/>
          <a:stretch>
            <a:fillRect/>
          </a:stretch>
        </p:blipFill>
        <p:spPr>
          <a:xfrm>
            <a:off x="617220" y="3406140"/>
            <a:ext cx="548640" cy="548640"/>
          </a:xfrm>
          <a:prstGeom prst="rect">
            <a:avLst/>
          </a:prstGeom>
        </p:spPr>
      </p:pic>
      <p:sp>
        <p:nvSpPr>
          <p:cNvPr id="13" name="Text 8"/>
          <p:cNvSpPr/>
          <p:nvPr/>
        </p:nvSpPr>
        <p:spPr>
          <a:xfrm>
            <a:off x="1463040" y="324612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Generate grounded answers</a:t>
            </a:r>
            <a:endParaRPr lang="en-US" sz="1600" dirty="0"/>
          </a:p>
        </p:txBody>
      </p:sp>
      <p:sp>
        <p:nvSpPr>
          <p:cNvPr id="14" name="Text 9"/>
          <p:cNvSpPr/>
          <p:nvPr/>
        </p:nvSpPr>
        <p:spPr>
          <a:xfrm>
            <a:off x="1463040" y="365760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Use an LLM to answer strictly from retrieved content</a:t>
            </a:r>
            <a:endParaRPr lang="en-US" sz="1300" dirty="0"/>
          </a:p>
        </p:txBody>
      </p:sp>
      <p:sp>
        <p:nvSpPr>
          <p:cNvPr id="15" name="Shape 10"/>
          <p:cNvSpPr/>
          <p:nvPr/>
        </p:nvSpPr>
        <p:spPr>
          <a:xfrm>
            <a:off x="6400800" y="3337560"/>
            <a:ext cx="685800" cy="685800"/>
          </a:xfrm>
          <a:prstGeom prst="ellipse">
            <a:avLst/>
          </a:prstGeom>
          <a:solidFill>
            <a:srgbClr val="0B3D62"/>
          </a:solidFill>
          <a:ln/>
        </p:spPr>
      </p:sp>
      <p:pic>
        <p:nvPicPr>
          <p:cNvPr id="16" name="Image 3" descr="/home/claude/pdf_rag/presentation/icons_check.png">    </p:cNvPr>
          <p:cNvPicPr>
            <a:picLocks noChangeAspect="1"/>
          </p:cNvPicPr>
          <p:nvPr/>
        </p:nvPicPr>
        <p:blipFill>
          <a:blip r:embed="rId4"/>
          <a:stretch>
            <a:fillRect/>
          </a:stretch>
        </p:blipFill>
        <p:spPr>
          <a:xfrm>
            <a:off x="6469380" y="3406140"/>
            <a:ext cx="548640" cy="548640"/>
          </a:xfrm>
          <a:prstGeom prst="rect">
            <a:avLst/>
          </a:prstGeom>
        </p:spPr>
      </p:pic>
      <p:sp>
        <p:nvSpPr>
          <p:cNvPr id="17" name="Text 11"/>
          <p:cNvSpPr/>
          <p:nvPr/>
        </p:nvSpPr>
        <p:spPr>
          <a:xfrm>
            <a:off x="7315200" y="324612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Cite every answer</a:t>
            </a:r>
            <a:endParaRPr lang="en-US" sz="1600" dirty="0"/>
          </a:p>
        </p:txBody>
      </p:sp>
      <p:sp>
        <p:nvSpPr>
          <p:cNvPr id="18" name="Text 12"/>
          <p:cNvSpPr/>
          <p:nvPr/>
        </p:nvSpPr>
        <p:spPr>
          <a:xfrm>
            <a:off x="7315200" y="365760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Show the exact source file and page for verification</a:t>
            </a:r>
            <a:endParaRPr lang="en-US" sz="1300" dirty="0"/>
          </a:p>
        </p:txBody>
      </p:sp>
      <p:sp>
        <p:nvSpPr>
          <p:cNvPr id="19" name="Text 13"/>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System architecture</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Two phases: build the index once, then answer questions against it</a:t>
            </a:r>
            <a:endParaRPr lang="en-US" sz="1400" dirty="0"/>
          </a:p>
        </p:txBody>
      </p:sp>
      <p:pic>
        <p:nvPicPr>
          <p:cNvPr id="4" name="Image 0" descr="/home/claude/pdf_rag/presentation/architecture_diagram.png">    </p:cNvPr>
          <p:cNvPicPr>
            <a:picLocks noChangeAspect="1"/>
          </p:cNvPicPr>
          <p:nvPr/>
        </p:nvPicPr>
        <p:blipFill>
          <a:blip r:embed="rId1"/>
          <a:stretch>
            <a:fillRect/>
          </a:stretch>
        </p:blipFill>
        <p:spPr>
          <a:xfrm>
            <a:off x="2724912" y="1737360"/>
            <a:ext cx="6739128" cy="2971800"/>
          </a:xfrm>
          <a:prstGeom prst="rect">
            <a:avLst/>
          </a:prstGeom>
        </p:spPr>
      </p:pic>
      <p:sp>
        <p:nvSpPr>
          <p:cNvPr id="5" name="Shape 2"/>
          <p:cNvSpPr/>
          <p:nvPr/>
        </p:nvSpPr>
        <p:spPr>
          <a:xfrm>
            <a:off x="1371600" y="4937760"/>
            <a:ext cx="4480560" cy="457200"/>
          </a:xfrm>
          <a:prstGeom prst="roundRect">
            <a:avLst>
              <a:gd name="adj" fmla="val 16000"/>
            </a:avLst>
          </a:prstGeom>
          <a:solidFill>
            <a:srgbClr val="E1F5EE"/>
          </a:solidFill>
          <a:ln/>
        </p:spPr>
      </p:sp>
      <p:sp>
        <p:nvSpPr>
          <p:cNvPr id="6" name="Text 3"/>
          <p:cNvSpPr/>
          <p:nvPr/>
        </p:nvSpPr>
        <p:spPr>
          <a:xfrm>
            <a:off x="1554480" y="4937760"/>
            <a:ext cx="4206240" cy="457200"/>
          </a:xfrm>
          <a:prstGeom prst="rect">
            <a:avLst/>
          </a:prstGeom>
          <a:noFill/>
          <a:ln/>
        </p:spPr>
        <p:txBody>
          <a:bodyPr wrap="square" lIns="0" tIns="0" rIns="0" bIns="0" rtlCol="0" anchor="ctr"/>
          <a:lstStyle/>
          <a:p>
            <a:pPr indent="0" marL="0">
              <a:buNone/>
            </a:pPr>
            <a:r>
              <a:rPr lang="en-US" sz="1200" dirty="0">
                <a:solidFill>
                  <a:srgbClr val="0F6E56"/>
                </a:solidFill>
                <a:latin typeface="Calibri" pitchFamily="34" charset="0"/>
                <a:ea typeface="Calibri" pitchFamily="34" charset="-122"/>
                <a:cs typeface="Calibri" pitchFamily="34" charset="-120"/>
              </a:rPr>
              <a:t>Indexing phase — runs once per upload</a:t>
            </a:r>
            <a:endParaRPr lang="en-US" sz="1200" dirty="0"/>
          </a:p>
        </p:txBody>
      </p:sp>
      <p:sp>
        <p:nvSpPr>
          <p:cNvPr id="7" name="Shape 4"/>
          <p:cNvSpPr/>
          <p:nvPr/>
        </p:nvSpPr>
        <p:spPr>
          <a:xfrm>
            <a:off x="6309360" y="4937760"/>
            <a:ext cx="4480560" cy="457200"/>
          </a:xfrm>
          <a:prstGeom prst="roundRect">
            <a:avLst>
              <a:gd name="adj" fmla="val 16000"/>
            </a:avLst>
          </a:prstGeom>
          <a:solidFill>
            <a:srgbClr val="EEEDFE"/>
          </a:solidFill>
          <a:ln/>
        </p:spPr>
      </p:sp>
      <p:sp>
        <p:nvSpPr>
          <p:cNvPr id="8" name="Text 5"/>
          <p:cNvSpPr/>
          <p:nvPr/>
        </p:nvSpPr>
        <p:spPr>
          <a:xfrm>
            <a:off x="6492240" y="4937760"/>
            <a:ext cx="4206240" cy="457200"/>
          </a:xfrm>
          <a:prstGeom prst="rect">
            <a:avLst/>
          </a:prstGeom>
          <a:noFill/>
          <a:ln/>
        </p:spPr>
        <p:txBody>
          <a:bodyPr wrap="square" lIns="0" tIns="0" rIns="0" bIns="0" rtlCol="0" anchor="ctr"/>
          <a:lstStyle/>
          <a:p>
            <a:pPr indent="0" marL="0">
              <a:buNone/>
            </a:pPr>
            <a:r>
              <a:rPr lang="en-US" sz="1200" dirty="0">
                <a:solidFill>
                  <a:srgbClr val="534AB7"/>
                </a:solidFill>
                <a:latin typeface="Calibri" pitchFamily="34" charset="0"/>
                <a:ea typeface="Calibri" pitchFamily="34" charset="-122"/>
                <a:cs typeface="Calibri" pitchFamily="34" charset="-120"/>
              </a:rPr>
              <a:t>Query phase — runs per question</a:t>
            </a:r>
            <a:endParaRPr lang="en-US" sz="1200" dirty="0"/>
          </a:p>
        </p:txBody>
      </p:sp>
      <p:sp>
        <p:nvSpPr>
          <p:cNvPr id="10" name="Text 6"/>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Not all questions are the same</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Broad questions (summaries) and specific questions (lookups) need different retrieval strategies</a:t>
            </a:r>
            <a:endParaRPr lang="en-US" sz="1400" dirty="0"/>
          </a:p>
        </p:txBody>
      </p:sp>
      <p:pic>
        <p:nvPicPr>
          <p:cNvPr id="4" name="Image 0" descr="/home/claude/pdf_rag/presentation/query_routing_diagram.png">    </p:cNvPr>
          <p:cNvPicPr>
            <a:picLocks noChangeAspect="1"/>
          </p:cNvPicPr>
          <p:nvPr/>
        </p:nvPicPr>
        <p:blipFill>
          <a:blip r:embed="rId1"/>
          <a:stretch>
            <a:fillRect/>
          </a:stretch>
        </p:blipFill>
        <p:spPr>
          <a:xfrm>
            <a:off x="3566160" y="1508760"/>
            <a:ext cx="5029200" cy="3182112"/>
          </a:xfrm>
          <a:prstGeom prst="rect">
            <a:avLst/>
          </a:prstGeom>
        </p:spPr>
      </p:pic>
      <p:sp>
        <p:nvSpPr>
          <p:cNvPr id="6" name="Text 2"/>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Technology stack</a:t>
            </a:r>
            <a:endParaRPr lang="en-US" sz="3000" dirty="0"/>
          </a:p>
        </p:txBody>
      </p:sp>
      <p:sp>
        <p:nvSpPr>
          <p:cNvPr id="3" name="Shape 1"/>
          <p:cNvSpPr/>
          <p:nvPr/>
        </p:nvSpPr>
        <p:spPr>
          <a:xfrm>
            <a:off x="548640" y="1554480"/>
            <a:ext cx="3429000" cy="1737360"/>
          </a:xfrm>
          <a:prstGeom prst="roundRect">
            <a:avLst>
              <a:gd name="adj" fmla="val 5263"/>
            </a:avLst>
          </a:prstGeom>
          <a:solidFill>
            <a:srgbClr val="FFFFFF"/>
          </a:solidFill>
          <a:ln w="12700">
            <a:solidFill>
              <a:srgbClr val="E2E4E8"/>
            </a:solidFill>
            <a:prstDash val="solid"/>
          </a:ln>
        </p:spPr>
      </p:sp>
      <p:sp>
        <p:nvSpPr>
          <p:cNvPr id="4" name="Shape 2"/>
          <p:cNvSpPr/>
          <p:nvPr/>
        </p:nvSpPr>
        <p:spPr>
          <a:xfrm>
            <a:off x="822960" y="1828800"/>
            <a:ext cx="640080" cy="640080"/>
          </a:xfrm>
          <a:prstGeom prst="ellipse">
            <a:avLst/>
          </a:prstGeom>
          <a:solidFill>
            <a:srgbClr val="0B3D62"/>
          </a:solidFill>
          <a:ln/>
        </p:spPr>
      </p:sp>
      <p:pic>
        <p:nvPicPr>
          <p:cNvPr id="5" name="Image 0" descr="/home/claude/pdf_rag/presentation/icons_python.png">    </p:cNvPr>
          <p:cNvPicPr>
            <a:picLocks noChangeAspect="1"/>
          </p:cNvPicPr>
          <p:nvPr/>
        </p:nvPicPr>
        <p:blipFill>
          <a:blip r:embed="rId1"/>
          <a:stretch>
            <a:fillRect/>
          </a:stretch>
        </p:blipFill>
        <p:spPr>
          <a:xfrm>
            <a:off x="886968" y="1892808"/>
            <a:ext cx="512064" cy="512064"/>
          </a:xfrm>
          <a:prstGeom prst="rect">
            <a:avLst/>
          </a:prstGeom>
        </p:spPr>
      </p:pic>
      <p:sp>
        <p:nvSpPr>
          <p:cNvPr id="6" name="Text 3"/>
          <p:cNvSpPr/>
          <p:nvPr/>
        </p:nvSpPr>
        <p:spPr>
          <a:xfrm>
            <a:off x="822960" y="26060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Python 3</a:t>
            </a:r>
            <a:endParaRPr lang="en-US" sz="1400" dirty="0"/>
          </a:p>
        </p:txBody>
      </p:sp>
      <p:sp>
        <p:nvSpPr>
          <p:cNvPr id="7" name="Text 4"/>
          <p:cNvSpPr/>
          <p:nvPr/>
        </p:nvSpPr>
        <p:spPr>
          <a:xfrm>
            <a:off x="822960" y="29260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Core language</a:t>
            </a:r>
            <a:endParaRPr lang="en-US" sz="1100" dirty="0"/>
          </a:p>
        </p:txBody>
      </p:sp>
      <p:sp>
        <p:nvSpPr>
          <p:cNvPr id="8" name="Shape 5"/>
          <p:cNvSpPr/>
          <p:nvPr/>
        </p:nvSpPr>
        <p:spPr>
          <a:xfrm>
            <a:off x="4297680" y="1554480"/>
            <a:ext cx="3429000" cy="1737360"/>
          </a:xfrm>
          <a:prstGeom prst="roundRect">
            <a:avLst>
              <a:gd name="adj" fmla="val 5263"/>
            </a:avLst>
          </a:prstGeom>
          <a:solidFill>
            <a:srgbClr val="FFFFFF"/>
          </a:solidFill>
          <a:ln w="12700">
            <a:solidFill>
              <a:srgbClr val="E2E4E8"/>
            </a:solidFill>
            <a:prstDash val="solid"/>
          </a:ln>
        </p:spPr>
      </p:sp>
      <p:sp>
        <p:nvSpPr>
          <p:cNvPr id="9" name="Shape 6"/>
          <p:cNvSpPr/>
          <p:nvPr/>
        </p:nvSpPr>
        <p:spPr>
          <a:xfrm>
            <a:off x="4572000" y="1828800"/>
            <a:ext cx="640080" cy="640080"/>
          </a:xfrm>
          <a:prstGeom prst="ellipse">
            <a:avLst/>
          </a:prstGeom>
          <a:solidFill>
            <a:srgbClr val="0B3D62"/>
          </a:solidFill>
          <a:ln/>
        </p:spPr>
      </p:sp>
      <p:pic>
        <p:nvPicPr>
          <p:cNvPr id="10" name="Image 1" descr="/home/claude/pdf_rag/presentation/icons_layer.png">    </p:cNvPr>
          <p:cNvPicPr>
            <a:picLocks noChangeAspect="1"/>
          </p:cNvPicPr>
          <p:nvPr/>
        </p:nvPicPr>
        <p:blipFill>
          <a:blip r:embed="rId2"/>
          <a:stretch>
            <a:fillRect/>
          </a:stretch>
        </p:blipFill>
        <p:spPr>
          <a:xfrm>
            <a:off x="4636008" y="1892808"/>
            <a:ext cx="512064" cy="512064"/>
          </a:xfrm>
          <a:prstGeom prst="rect">
            <a:avLst/>
          </a:prstGeom>
        </p:spPr>
      </p:pic>
      <p:sp>
        <p:nvSpPr>
          <p:cNvPr id="11" name="Text 7"/>
          <p:cNvSpPr/>
          <p:nvPr/>
        </p:nvSpPr>
        <p:spPr>
          <a:xfrm>
            <a:off x="4572000" y="26060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Streamlit</a:t>
            </a:r>
            <a:endParaRPr lang="en-US" sz="1400" dirty="0"/>
          </a:p>
        </p:txBody>
      </p:sp>
      <p:sp>
        <p:nvSpPr>
          <p:cNvPr id="12" name="Text 8"/>
          <p:cNvSpPr/>
          <p:nvPr/>
        </p:nvSpPr>
        <p:spPr>
          <a:xfrm>
            <a:off x="4572000" y="29260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Chat interface</a:t>
            </a:r>
            <a:endParaRPr lang="en-US" sz="1100" dirty="0"/>
          </a:p>
        </p:txBody>
      </p:sp>
      <p:sp>
        <p:nvSpPr>
          <p:cNvPr id="13" name="Shape 9"/>
          <p:cNvSpPr/>
          <p:nvPr/>
        </p:nvSpPr>
        <p:spPr>
          <a:xfrm>
            <a:off x="8046720" y="1554480"/>
            <a:ext cx="3429000" cy="1737360"/>
          </a:xfrm>
          <a:prstGeom prst="roundRect">
            <a:avLst>
              <a:gd name="adj" fmla="val 5263"/>
            </a:avLst>
          </a:prstGeom>
          <a:solidFill>
            <a:srgbClr val="FFFFFF"/>
          </a:solidFill>
          <a:ln w="12700">
            <a:solidFill>
              <a:srgbClr val="E2E4E8"/>
            </a:solidFill>
            <a:prstDash val="solid"/>
          </a:ln>
        </p:spPr>
      </p:sp>
      <p:sp>
        <p:nvSpPr>
          <p:cNvPr id="14" name="Shape 10"/>
          <p:cNvSpPr/>
          <p:nvPr/>
        </p:nvSpPr>
        <p:spPr>
          <a:xfrm>
            <a:off x="8321040" y="1828800"/>
            <a:ext cx="640080" cy="640080"/>
          </a:xfrm>
          <a:prstGeom prst="ellipse">
            <a:avLst/>
          </a:prstGeom>
          <a:solidFill>
            <a:srgbClr val="0B3D62"/>
          </a:solidFill>
          <a:ln/>
        </p:spPr>
      </p:sp>
      <p:pic>
        <p:nvPicPr>
          <p:cNvPr id="15" name="Image 2" descr="/home/claude/pdf_rag/presentation/icons_extract.png">    </p:cNvPr>
          <p:cNvPicPr>
            <a:picLocks noChangeAspect="1"/>
          </p:cNvPicPr>
          <p:nvPr/>
        </p:nvPicPr>
        <p:blipFill>
          <a:blip r:embed="rId3"/>
          <a:stretch>
            <a:fillRect/>
          </a:stretch>
        </p:blipFill>
        <p:spPr>
          <a:xfrm>
            <a:off x="8385048" y="1892808"/>
            <a:ext cx="512064" cy="512064"/>
          </a:xfrm>
          <a:prstGeom prst="rect">
            <a:avLst/>
          </a:prstGeom>
        </p:spPr>
      </p:pic>
      <p:sp>
        <p:nvSpPr>
          <p:cNvPr id="16" name="Text 11"/>
          <p:cNvSpPr/>
          <p:nvPr/>
        </p:nvSpPr>
        <p:spPr>
          <a:xfrm>
            <a:off x="8321040" y="26060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pymupdf4llm</a:t>
            </a:r>
            <a:endParaRPr lang="en-US" sz="1400" dirty="0"/>
          </a:p>
        </p:txBody>
      </p:sp>
      <p:sp>
        <p:nvSpPr>
          <p:cNvPr id="17" name="Text 12"/>
          <p:cNvSpPr/>
          <p:nvPr/>
        </p:nvSpPr>
        <p:spPr>
          <a:xfrm>
            <a:off x="8321040" y="29260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PDF to Markdown</a:t>
            </a:r>
            <a:endParaRPr lang="en-US" sz="1100" dirty="0"/>
          </a:p>
        </p:txBody>
      </p:sp>
      <p:sp>
        <p:nvSpPr>
          <p:cNvPr id="18" name="Shape 13"/>
          <p:cNvSpPr/>
          <p:nvPr/>
        </p:nvSpPr>
        <p:spPr>
          <a:xfrm>
            <a:off x="548640" y="3611880"/>
            <a:ext cx="3429000" cy="1737360"/>
          </a:xfrm>
          <a:prstGeom prst="roundRect">
            <a:avLst>
              <a:gd name="adj" fmla="val 5263"/>
            </a:avLst>
          </a:prstGeom>
          <a:solidFill>
            <a:srgbClr val="FFFFFF"/>
          </a:solidFill>
          <a:ln w="12700">
            <a:solidFill>
              <a:srgbClr val="E2E4E8"/>
            </a:solidFill>
            <a:prstDash val="solid"/>
          </a:ln>
        </p:spPr>
      </p:sp>
      <p:sp>
        <p:nvSpPr>
          <p:cNvPr id="19" name="Shape 14"/>
          <p:cNvSpPr/>
          <p:nvPr/>
        </p:nvSpPr>
        <p:spPr>
          <a:xfrm>
            <a:off x="822960" y="3886200"/>
            <a:ext cx="640080" cy="640080"/>
          </a:xfrm>
          <a:prstGeom prst="ellipse">
            <a:avLst/>
          </a:prstGeom>
          <a:solidFill>
            <a:srgbClr val="0B3D62"/>
          </a:solidFill>
          <a:ln/>
        </p:spPr>
      </p:sp>
      <p:pic>
        <p:nvPicPr>
          <p:cNvPr id="20" name="Image 3" descr="/home/claude/pdf_rag/presentation/icons_brain.png">    </p:cNvPr>
          <p:cNvPicPr>
            <a:picLocks noChangeAspect="1"/>
          </p:cNvPicPr>
          <p:nvPr/>
        </p:nvPicPr>
        <p:blipFill>
          <a:blip r:embed="rId4"/>
          <a:stretch>
            <a:fillRect/>
          </a:stretch>
        </p:blipFill>
        <p:spPr>
          <a:xfrm>
            <a:off x="886968" y="3950208"/>
            <a:ext cx="512064" cy="512064"/>
          </a:xfrm>
          <a:prstGeom prst="rect">
            <a:avLst/>
          </a:prstGeom>
        </p:spPr>
      </p:pic>
      <p:sp>
        <p:nvSpPr>
          <p:cNvPr id="21" name="Text 15"/>
          <p:cNvSpPr/>
          <p:nvPr/>
        </p:nvSpPr>
        <p:spPr>
          <a:xfrm>
            <a:off x="822960" y="46634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sentence-transformers</a:t>
            </a:r>
            <a:endParaRPr lang="en-US" sz="1400" dirty="0"/>
          </a:p>
        </p:txBody>
      </p:sp>
      <p:sp>
        <p:nvSpPr>
          <p:cNvPr id="22" name="Text 16"/>
          <p:cNvSpPr/>
          <p:nvPr/>
        </p:nvSpPr>
        <p:spPr>
          <a:xfrm>
            <a:off x="822960" y="49834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CPU embeddings</a:t>
            </a:r>
            <a:endParaRPr lang="en-US" sz="1100" dirty="0"/>
          </a:p>
        </p:txBody>
      </p:sp>
      <p:sp>
        <p:nvSpPr>
          <p:cNvPr id="23" name="Shape 17"/>
          <p:cNvSpPr/>
          <p:nvPr/>
        </p:nvSpPr>
        <p:spPr>
          <a:xfrm>
            <a:off x="4297680" y="3611880"/>
            <a:ext cx="3429000" cy="1737360"/>
          </a:xfrm>
          <a:prstGeom prst="roundRect">
            <a:avLst>
              <a:gd name="adj" fmla="val 5263"/>
            </a:avLst>
          </a:prstGeom>
          <a:solidFill>
            <a:srgbClr val="FFFFFF"/>
          </a:solidFill>
          <a:ln w="12700">
            <a:solidFill>
              <a:srgbClr val="E2E4E8"/>
            </a:solidFill>
            <a:prstDash val="solid"/>
          </a:ln>
        </p:spPr>
      </p:sp>
      <p:sp>
        <p:nvSpPr>
          <p:cNvPr id="24" name="Shape 18"/>
          <p:cNvSpPr/>
          <p:nvPr/>
        </p:nvSpPr>
        <p:spPr>
          <a:xfrm>
            <a:off x="4572000" y="3886200"/>
            <a:ext cx="640080" cy="640080"/>
          </a:xfrm>
          <a:prstGeom prst="ellipse">
            <a:avLst/>
          </a:prstGeom>
          <a:solidFill>
            <a:srgbClr val="0B3D62"/>
          </a:solidFill>
          <a:ln/>
        </p:spPr>
      </p:sp>
      <p:pic>
        <p:nvPicPr>
          <p:cNvPr id="25" name="Image 4" descr="/home/claude/pdf_rag/presentation/icons_database.png">    </p:cNvPr>
          <p:cNvPicPr>
            <a:picLocks noChangeAspect="1"/>
          </p:cNvPicPr>
          <p:nvPr/>
        </p:nvPicPr>
        <p:blipFill>
          <a:blip r:embed="rId5"/>
          <a:stretch>
            <a:fillRect/>
          </a:stretch>
        </p:blipFill>
        <p:spPr>
          <a:xfrm>
            <a:off x="4636008" y="3950208"/>
            <a:ext cx="512064" cy="512064"/>
          </a:xfrm>
          <a:prstGeom prst="rect">
            <a:avLst/>
          </a:prstGeom>
        </p:spPr>
      </p:pic>
      <p:sp>
        <p:nvSpPr>
          <p:cNvPr id="26" name="Text 19"/>
          <p:cNvSpPr/>
          <p:nvPr/>
        </p:nvSpPr>
        <p:spPr>
          <a:xfrm>
            <a:off x="4572000" y="46634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FAISS</a:t>
            </a:r>
            <a:endParaRPr lang="en-US" sz="1400" dirty="0"/>
          </a:p>
        </p:txBody>
      </p:sp>
      <p:sp>
        <p:nvSpPr>
          <p:cNvPr id="27" name="Text 20"/>
          <p:cNvSpPr/>
          <p:nvPr/>
        </p:nvSpPr>
        <p:spPr>
          <a:xfrm>
            <a:off x="4572000" y="49834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Vector search</a:t>
            </a:r>
            <a:endParaRPr lang="en-US" sz="1100" dirty="0"/>
          </a:p>
        </p:txBody>
      </p:sp>
      <p:sp>
        <p:nvSpPr>
          <p:cNvPr id="28" name="Shape 21"/>
          <p:cNvSpPr/>
          <p:nvPr/>
        </p:nvSpPr>
        <p:spPr>
          <a:xfrm>
            <a:off x="8046720" y="3611880"/>
            <a:ext cx="3429000" cy="1737360"/>
          </a:xfrm>
          <a:prstGeom prst="roundRect">
            <a:avLst>
              <a:gd name="adj" fmla="val 5263"/>
            </a:avLst>
          </a:prstGeom>
          <a:solidFill>
            <a:srgbClr val="FFFFFF"/>
          </a:solidFill>
          <a:ln w="12700">
            <a:solidFill>
              <a:srgbClr val="E2E4E8"/>
            </a:solidFill>
            <a:prstDash val="solid"/>
          </a:ln>
        </p:spPr>
      </p:sp>
      <p:sp>
        <p:nvSpPr>
          <p:cNvPr id="29" name="Shape 22"/>
          <p:cNvSpPr/>
          <p:nvPr/>
        </p:nvSpPr>
        <p:spPr>
          <a:xfrm>
            <a:off x="8321040" y="3886200"/>
            <a:ext cx="640080" cy="640080"/>
          </a:xfrm>
          <a:prstGeom prst="ellipse">
            <a:avLst/>
          </a:prstGeom>
          <a:solidFill>
            <a:srgbClr val="0B3D62"/>
          </a:solidFill>
          <a:ln/>
        </p:spPr>
      </p:sp>
      <p:pic>
        <p:nvPicPr>
          <p:cNvPr id="30" name="Image 5" descr="/home/claude/pdf_rag/presentation/icons_bolt.png">    </p:cNvPr>
          <p:cNvPicPr>
            <a:picLocks noChangeAspect="1"/>
          </p:cNvPicPr>
          <p:nvPr/>
        </p:nvPicPr>
        <p:blipFill>
          <a:blip r:embed="rId6"/>
          <a:stretch>
            <a:fillRect/>
          </a:stretch>
        </p:blipFill>
        <p:spPr>
          <a:xfrm>
            <a:off x="8385048" y="3950208"/>
            <a:ext cx="512064" cy="512064"/>
          </a:xfrm>
          <a:prstGeom prst="rect">
            <a:avLst/>
          </a:prstGeom>
        </p:spPr>
      </p:pic>
      <p:sp>
        <p:nvSpPr>
          <p:cNvPr id="31" name="Text 23"/>
          <p:cNvSpPr/>
          <p:nvPr/>
        </p:nvSpPr>
        <p:spPr>
          <a:xfrm>
            <a:off x="8321040" y="46634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Groq API</a:t>
            </a:r>
            <a:endParaRPr lang="en-US" sz="1400" dirty="0"/>
          </a:p>
        </p:txBody>
      </p:sp>
      <p:sp>
        <p:nvSpPr>
          <p:cNvPr id="32" name="Text 24"/>
          <p:cNvSpPr/>
          <p:nvPr/>
        </p:nvSpPr>
        <p:spPr>
          <a:xfrm>
            <a:off x="8321040" y="49834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Free LLM inference</a:t>
            </a:r>
            <a:endParaRPr lang="en-US" sz="1100" dirty="0"/>
          </a:p>
        </p:txBody>
      </p:sp>
      <p:sp>
        <p:nvSpPr>
          <p:cNvPr id="33" name="Text 25"/>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Why hybrid retrieval</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Example: asking about “TASK 3.2.2” when the document also has 3.1.2 and 3.3.1</a:t>
            </a:r>
            <a:endParaRPr lang="en-US" sz="1400" dirty="0"/>
          </a:p>
        </p:txBody>
      </p:sp>
      <p:sp>
        <p:nvSpPr>
          <p:cNvPr id="4" name="Shape 2"/>
          <p:cNvSpPr/>
          <p:nvPr/>
        </p:nvSpPr>
        <p:spPr>
          <a:xfrm>
            <a:off x="548640" y="1600200"/>
            <a:ext cx="5303520" cy="4206240"/>
          </a:xfrm>
          <a:prstGeom prst="roundRect">
            <a:avLst>
              <a:gd name="adj" fmla="val 2609"/>
            </a:avLst>
          </a:prstGeom>
          <a:solidFill>
            <a:srgbClr val="FAECE7"/>
          </a:solidFill>
          <a:ln/>
        </p:spPr>
      </p:sp>
      <p:sp>
        <p:nvSpPr>
          <p:cNvPr id="5" name="Text 3"/>
          <p:cNvSpPr/>
          <p:nvPr/>
        </p:nvSpPr>
        <p:spPr>
          <a:xfrm>
            <a:off x="914400" y="1828800"/>
            <a:ext cx="4572000" cy="365760"/>
          </a:xfrm>
          <a:prstGeom prst="rect">
            <a:avLst/>
          </a:prstGeom>
          <a:noFill/>
          <a:ln/>
        </p:spPr>
        <p:txBody>
          <a:bodyPr wrap="square" lIns="0" tIns="0" rIns="0" bIns="0" rtlCol="0" anchor="ctr"/>
          <a:lstStyle/>
          <a:p>
            <a:pPr indent="0" marL="0">
              <a:buNone/>
            </a:pPr>
            <a:r>
              <a:rPr lang="en-US" sz="1600" b="1" dirty="0">
                <a:solidFill>
                  <a:srgbClr val="712B13"/>
                </a:solidFill>
                <a:latin typeface="Cambria" pitchFamily="34" charset="0"/>
                <a:ea typeface="Cambria" pitchFamily="34" charset="-122"/>
                <a:cs typeface="Cambria" pitchFamily="34" charset="-120"/>
              </a:rPr>
              <a:t>Vector search alone</a:t>
            </a:r>
            <a:endParaRPr lang="en-US" sz="1600" dirty="0"/>
          </a:p>
        </p:txBody>
      </p:sp>
      <p:sp>
        <p:nvSpPr>
          <p:cNvPr id="6" name="Text 4"/>
          <p:cNvSpPr/>
          <p:nvPr/>
        </p:nvSpPr>
        <p:spPr>
          <a:xfrm>
            <a:off x="914400" y="2286000"/>
            <a:ext cx="4572000" cy="320040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Embeddings capture meaning, not exact digits</a:t>
            </a:r>
            <a:endParaRPr lang="en-US" sz="1400" dirty="0"/>
          </a:p>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“TASK 3.1.2” and “TASK 3.2.2” look almost identical to the model</a:t>
            </a:r>
            <a:endParaRPr lang="en-US" sz="1400" dirty="0"/>
          </a:p>
          <a:p>
            <a:pPr marL="342900" indent="-342900">
              <a:lnSpc>
                <a:spcPct val="115000"/>
              </a:lnSpc>
              <a:buSzPct val="100000"/>
              <a:buChar char="•"/>
            </a:pPr>
            <a:r>
              <a:rPr lang="en-US" sz="1400" dirty="0">
                <a:solidFill>
                  <a:srgbClr val="1A1A1A"/>
                </a:solidFill>
                <a:latin typeface="Calibri" pitchFamily="34" charset="0"/>
                <a:ea typeface="Calibri" pitchFamily="34" charset="-122"/>
                <a:cs typeface="Calibri" pitchFamily="34" charset="-120"/>
              </a:rPr>
              <a:t>Result: wrong section retrieved, or an “I don't have enough information” answer</a:t>
            </a:r>
            <a:endParaRPr lang="en-US" sz="1400" dirty="0"/>
          </a:p>
        </p:txBody>
      </p:sp>
      <p:sp>
        <p:nvSpPr>
          <p:cNvPr id="7" name="Shape 5"/>
          <p:cNvSpPr/>
          <p:nvPr/>
        </p:nvSpPr>
        <p:spPr>
          <a:xfrm>
            <a:off x="6309360" y="1600200"/>
            <a:ext cx="5303520" cy="4206240"/>
          </a:xfrm>
          <a:prstGeom prst="roundRect">
            <a:avLst>
              <a:gd name="adj" fmla="val 2609"/>
            </a:avLst>
          </a:prstGeom>
          <a:solidFill>
            <a:srgbClr val="E1F5EE"/>
          </a:solidFill>
          <a:ln/>
        </p:spPr>
      </p:sp>
      <p:sp>
        <p:nvSpPr>
          <p:cNvPr id="8" name="Text 6"/>
          <p:cNvSpPr/>
          <p:nvPr/>
        </p:nvSpPr>
        <p:spPr>
          <a:xfrm>
            <a:off x="6675120" y="1828800"/>
            <a:ext cx="4572000" cy="365760"/>
          </a:xfrm>
          <a:prstGeom prst="rect">
            <a:avLst/>
          </a:prstGeom>
          <a:noFill/>
          <a:ln/>
        </p:spPr>
        <p:txBody>
          <a:bodyPr wrap="square" lIns="0" tIns="0" rIns="0" bIns="0" rtlCol="0" anchor="ctr"/>
          <a:lstStyle/>
          <a:p>
            <a:pPr indent="0" marL="0">
              <a:buNone/>
            </a:pPr>
            <a:r>
              <a:rPr lang="en-US" sz="1600" b="1" dirty="0">
                <a:solidFill>
                  <a:srgbClr val="085041"/>
                </a:solidFill>
                <a:latin typeface="Cambria" pitchFamily="34" charset="0"/>
                <a:ea typeface="Cambria" pitchFamily="34" charset="-122"/>
                <a:cs typeface="Cambria" pitchFamily="34" charset="-120"/>
              </a:rPr>
              <a:t>Hybrid retrieval</a:t>
            </a:r>
            <a:endParaRPr lang="en-US" sz="1600" dirty="0"/>
          </a:p>
        </p:txBody>
      </p:sp>
      <p:sp>
        <p:nvSpPr>
          <p:cNvPr id="9" name="Text 7"/>
          <p:cNvSpPr/>
          <p:nvPr/>
        </p:nvSpPr>
        <p:spPr>
          <a:xfrm>
            <a:off x="6675120" y="2286000"/>
            <a:ext cx="4572000" cy="320040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Detects identifier patterns (e.g. “3.2.2”) in the question</a:t>
            </a:r>
            <a:endParaRPr lang="en-US" sz="1400" dirty="0"/>
          </a:p>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Does a literal, exact-match search for that identifier first</a:t>
            </a:r>
            <a:endParaRPr lang="en-US" sz="1400" dirty="0"/>
          </a:p>
          <a:p>
            <a:pPr marL="342900" indent="-342900">
              <a:lnSpc>
                <a:spcPct val="115000"/>
              </a:lnSpc>
              <a:buSzPct val="100000"/>
              <a:buChar char="•"/>
            </a:pPr>
            <a:r>
              <a:rPr lang="en-US" sz="1400" dirty="0">
                <a:solidFill>
                  <a:srgbClr val="1A1A1A"/>
                </a:solidFill>
                <a:latin typeface="Calibri" pitchFamily="34" charset="0"/>
                <a:ea typeface="Calibri" pitchFamily="34" charset="-122"/>
                <a:cs typeface="Calibri" pitchFamily="34" charset="-120"/>
              </a:rPr>
              <a:t>Fills remaining context with vector search results</a:t>
            </a:r>
            <a:endParaRPr lang="en-US" sz="1400" dirty="0"/>
          </a:p>
        </p:txBody>
      </p:sp>
      <p:sp>
        <p:nvSpPr>
          <p:cNvPr id="10" name="Text 8"/>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Multi-document support with citations</a:t>
            </a:r>
            <a:endParaRPr lang="en-US" sz="3000" dirty="0"/>
          </a:p>
        </p:txBody>
      </p:sp>
      <p:sp>
        <p:nvSpPr>
          <p:cNvPr id="3" name="Text 1"/>
          <p:cNvSpPr/>
          <p:nvPr/>
        </p:nvSpPr>
        <p:spPr>
          <a:xfrm>
            <a:off x="548640" y="1645920"/>
            <a:ext cx="5852160" cy="3657600"/>
          </a:xfrm>
          <a:prstGeom prst="rect">
            <a:avLst/>
          </a:prstGeom>
          <a:noFill/>
          <a:ln/>
        </p:spPr>
        <p:txBody>
          <a:bodyPr wrap="square" lIns="0" tIns="0" rIns="0" bIns="0" rtlCol="0" anchor="t"/>
          <a:lstStyle/>
          <a:p>
            <a:pPr marL="342900" indent="-342900">
              <a:lnSpc>
                <a:spcPct val="120000"/>
              </a:lnSpc>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Upload and query multiple PDFs together</a:t>
            </a:r>
            <a:endParaRPr lang="en-US" sz="1600" dirty="0"/>
          </a:p>
          <a:p>
            <a:pPr marL="342900" indent="-342900">
              <a:lnSpc>
                <a:spcPct val="120000"/>
              </a:lnSpc>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Every chunk is tagged with its source file and page number</a:t>
            </a:r>
            <a:endParaRPr lang="en-US" sz="1600" dirty="0"/>
          </a:p>
          <a:p>
            <a:pPr marL="342900" indent="-342900">
              <a:lnSpc>
                <a:spcPct val="120000"/>
              </a:lnSpc>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Answers cite exactly where the information came from</a:t>
            </a:r>
            <a:endParaRPr lang="en-US" sz="1600" dirty="0"/>
          </a:p>
          <a:p>
            <a:pPr marL="342900" indent="-342900">
              <a:lnSpc>
                <a:spcPct val="120000"/>
              </a:lnSpc>
              <a:buSzPct val="100000"/>
              <a:buChar char="•"/>
            </a:pPr>
            <a:r>
              <a:rPr lang="en-US" sz="1600" dirty="0">
                <a:solidFill>
                  <a:srgbClr val="1A1A1A"/>
                </a:solidFill>
                <a:latin typeface="Calibri" pitchFamily="34" charset="0"/>
                <a:ea typeface="Calibri" pitchFamily="34" charset="-122"/>
                <a:cs typeface="Calibri" pitchFamily="34" charset="-120"/>
              </a:rPr>
              <a:t>Documents can be removed from the index without restarting</a:t>
            </a:r>
            <a:endParaRPr lang="en-US" sz="1600" dirty="0"/>
          </a:p>
        </p:txBody>
      </p:sp>
      <p:sp>
        <p:nvSpPr>
          <p:cNvPr id="4" name="Shape 2"/>
          <p:cNvSpPr/>
          <p:nvPr/>
        </p:nvSpPr>
        <p:spPr>
          <a:xfrm>
            <a:off x="6858000" y="1737360"/>
            <a:ext cx="4754880" cy="3566160"/>
          </a:xfrm>
          <a:prstGeom prst="roundRect">
            <a:avLst>
              <a:gd name="adj" fmla="val 3077"/>
            </a:avLst>
          </a:prstGeom>
          <a:solidFill>
            <a:srgbClr val="F5F6F7"/>
          </a:solidFill>
          <a:ln w="12700">
            <a:solidFill>
              <a:srgbClr val="E2E4E8"/>
            </a:solidFill>
            <a:prstDash val="solid"/>
          </a:ln>
        </p:spPr>
      </p:sp>
      <p:sp>
        <p:nvSpPr>
          <p:cNvPr id="5" name="Text 3"/>
          <p:cNvSpPr/>
          <p:nvPr/>
        </p:nvSpPr>
        <p:spPr>
          <a:xfrm>
            <a:off x="7178040" y="2011680"/>
            <a:ext cx="4114800" cy="548640"/>
          </a:xfrm>
          <a:prstGeom prst="rect">
            <a:avLst/>
          </a:prstGeom>
          <a:noFill/>
          <a:ln/>
        </p:spPr>
        <p:txBody>
          <a:bodyPr wrap="square" lIns="0" tIns="0" rIns="0" bIns="0" rtlCol="0" anchor="ctr"/>
          <a:lstStyle/>
          <a:p>
            <a:pPr indent="0" marL="0">
              <a:buNone/>
            </a:pPr>
            <a:r>
              <a:rPr lang="en-US" sz="1300" b="1" dirty="0">
                <a:solidFill>
                  <a:srgbClr val="0B3D62"/>
                </a:solidFill>
                <a:latin typeface="Calibri" pitchFamily="34" charset="0"/>
                <a:ea typeface="Calibri" pitchFamily="34" charset="-122"/>
                <a:cs typeface="Calibri" pitchFamily="34" charset="-120"/>
              </a:rPr>
              <a:t>Q: What is the deadline for Task 2.1?</a:t>
            </a:r>
            <a:endParaRPr lang="en-US" sz="1300" dirty="0"/>
          </a:p>
        </p:txBody>
      </p:sp>
      <p:sp>
        <p:nvSpPr>
          <p:cNvPr id="6" name="Text 4"/>
          <p:cNvSpPr/>
          <p:nvPr/>
        </p:nvSpPr>
        <p:spPr>
          <a:xfrm>
            <a:off x="7178040" y="2651760"/>
            <a:ext cx="4114800" cy="118872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The deadline for Task 2.1 is the end of Sprint 3, as defined in the project schedule.</a:t>
            </a:r>
            <a:endParaRPr lang="en-US" sz="1300" dirty="0"/>
          </a:p>
        </p:txBody>
      </p:sp>
      <p:sp>
        <p:nvSpPr>
          <p:cNvPr id="7" name="Shape 5"/>
          <p:cNvSpPr/>
          <p:nvPr/>
        </p:nvSpPr>
        <p:spPr>
          <a:xfrm>
            <a:off x="7178040" y="3931920"/>
            <a:ext cx="4114800" cy="457200"/>
          </a:xfrm>
          <a:prstGeom prst="roundRect">
            <a:avLst>
              <a:gd name="adj" fmla="val 16000"/>
            </a:avLst>
          </a:prstGeom>
          <a:solidFill>
            <a:srgbClr val="EEEDFE"/>
          </a:solidFill>
          <a:ln/>
        </p:spPr>
      </p:sp>
      <p:sp>
        <p:nvSpPr>
          <p:cNvPr id="8" name="Text 6"/>
          <p:cNvSpPr/>
          <p:nvPr/>
        </p:nvSpPr>
        <p:spPr>
          <a:xfrm>
            <a:off x="7315200" y="3931920"/>
            <a:ext cx="3840480" cy="457200"/>
          </a:xfrm>
          <a:prstGeom prst="rect">
            <a:avLst/>
          </a:prstGeom>
          <a:noFill/>
          <a:ln/>
        </p:spPr>
        <p:txBody>
          <a:bodyPr wrap="square" lIns="0" tIns="0" rIns="0" bIns="0" rtlCol="0" anchor="ctr"/>
          <a:lstStyle/>
          <a:p>
            <a:pPr indent="0" marL="0">
              <a:buNone/>
            </a:pPr>
            <a:r>
              <a:rPr lang="en-US" sz="1100" i="1" dirty="0">
                <a:solidFill>
                  <a:srgbClr val="534AB7"/>
                </a:solidFill>
                <a:latin typeface="Calibri" pitchFamily="34" charset="0"/>
                <a:ea typeface="Calibri" pitchFamily="34" charset="-122"/>
                <a:cs typeface="Calibri" pitchFamily="34" charset="-120"/>
              </a:rPr>
              <a:t>Source: project_plan.pdf, page 6</a:t>
            </a:r>
            <a:endParaRPr lang="en-US" sz="1100" dirty="0"/>
          </a:p>
        </p:txBody>
      </p:sp>
      <p:sp>
        <p:nvSpPr>
          <p:cNvPr id="9" name="Text 7"/>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Testing &amp; results</a:t>
            </a:r>
            <a:endParaRPr lang="en-US" sz="3000" dirty="0"/>
          </a:p>
        </p:txBody>
      </p:sp>
      <p:sp>
        <p:nvSpPr>
          <p:cNvPr id="3" name="Text 1"/>
          <p:cNvSpPr/>
          <p:nvPr/>
        </p:nvSpPr>
        <p:spPr>
          <a:xfrm>
            <a:off x="822960" y="1554480"/>
            <a:ext cx="2011680" cy="1371600"/>
          </a:xfrm>
          <a:prstGeom prst="rect">
            <a:avLst/>
          </a:prstGeom>
          <a:noFill/>
          <a:ln/>
        </p:spPr>
        <p:txBody>
          <a:bodyPr wrap="square" lIns="0" tIns="0" rIns="0" bIns="0" rtlCol="0" anchor="ctr"/>
          <a:lstStyle/>
          <a:p>
            <a:pPr algn="ctr" indent="0" marL="0">
              <a:buNone/>
            </a:pPr>
            <a:r>
              <a:rPr lang="en-US" sz="7200" b="1" dirty="0">
                <a:solidFill>
                  <a:srgbClr val="0F6E56"/>
                </a:solidFill>
                <a:latin typeface="Cambria" pitchFamily="34" charset="0"/>
                <a:ea typeface="Cambria" pitchFamily="34" charset="-122"/>
                <a:cs typeface="Cambria" pitchFamily="34" charset="-120"/>
              </a:rPr>
              <a:t>7</a:t>
            </a:r>
            <a:endParaRPr lang="en-US" sz="7200" dirty="0"/>
          </a:p>
        </p:txBody>
      </p:sp>
      <p:sp>
        <p:nvSpPr>
          <p:cNvPr id="4" name="Text 2"/>
          <p:cNvSpPr/>
          <p:nvPr/>
        </p:nvSpPr>
        <p:spPr>
          <a:xfrm>
            <a:off x="2651760" y="1965960"/>
            <a:ext cx="1097280" cy="822960"/>
          </a:xfrm>
          <a:prstGeom prst="rect">
            <a:avLst/>
          </a:prstGeom>
          <a:noFill/>
          <a:ln/>
        </p:spPr>
        <p:txBody>
          <a:bodyPr wrap="square" lIns="0" tIns="0" rIns="0" bIns="0" rtlCol="0" anchor="ctr"/>
          <a:lstStyle/>
          <a:p>
            <a:pPr indent="0" marL="0">
              <a:buNone/>
            </a:pPr>
            <a:r>
              <a:rPr lang="en-US" sz="3200" b="1" dirty="0">
                <a:solidFill>
                  <a:srgbClr val="5F5E5A"/>
                </a:solidFill>
                <a:latin typeface="Cambria" pitchFamily="34" charset="0"/>
                <a:ea typeface="Cambria" pitchFamily="34" charset="-122"/>
                <a:cs typeface="Cambria" pitchFamily="34" charset="-120"/>
              </a:rPr>
              <a:t>/ 7</a:t>
            </a:r>
            <a:endParaRPr lang="en-US" sz="3200" dirty="0"/>
          </a:p>
        </p:txBody>
      </p:sp>
      <p:sp>
        <p:nvSpPr>
          <p:cNvPr id="5" name="Text 3"/>
          <p:cNvSpPr/>
          <p:nvPr/>
        </p:nvSpPr>
        <p:spPr>
          <a:xfrm>
            <a:off x="822960" y="2880360"/>
            <a:ext cx="2926080" cy="365760"/>
          </a:xfrm>
          <a:prstGeom prst="rect">
            <a:avLst/>
          </a:prstGeom>
          <a:noFill/>
          <a:ln/>
        </p:spPr>
        <p:txBody>
          <a:bodyPr wrap="square" lIns="0" tIns="0" rIns="0" bIns="0" rtlCol="0" anchor="ctr"/>
          <a:lstStyle/>
          <a:p>
            <a:pPr algn="ctr" indent="0" marL="0">
              <a:buNone/>
            </a:pPr>
            <a:r>
              <a:rPr lang="en-US" sz="1300" dirty="0">
                <a:solidFill>
                  <a:srgbClr val="5F5E5A"/>
                </a:solidFill>
                <a:latin typeface="Calibri" pitchFamily="34" charset="0"/>
                <a:ea typeface="Calibri" pitchFamily="34" charset="-122"/>
                <a:cs typeface="Calibri" pitchFamily="34" charset="-120"/>
              </a:rPr>
              <a:t>test cases passed</a:t>
            </a:r>
            <a:endParaRPr lang="en-US" sz="1300" dirty="0"/>
          </a:p>
        </p:txBody>
      </p:sp>
      <p:sp>
        <p:nvSpPr>
          <p:cNvPr id="6" name="Shape 4"/>
          <p:cNvSpPr/>
          <p:nvPr/>
        </p:nvSpPr>
        <p:spPr>
          <a:xfrm>
            <a:off x="4297680" y="1600200"/>
            <a:ext cx="457200" cy="457200"/>
          </a:xfrm>
          <a:prstGeom prst="ellipse">
            <a:avLst/>
          </a:prstGeom>
          <a:solidFill>
            <a:srgbClr val="0F6E56"/>
          </a:solidFill>
          <a:ln/>
        </p:spPr>
      </p:sp>
      <p:pic>
        <p:nvPicPr>
          <p:cNvPr id="7" name="Image 0" descr="/home/claude/pdf_rag/presentation/icons_check.png">    </p:cNvPr>
          <p:cNvPicPr>
            <a:picLocks noChangeAspect="1"/>
          </p:cNvPicPr>
          <p:nvPr/>
        </p:nvPicPr>
        <p:blipFill>
          <a:blip r:embed="rId1"/>
          <a:stretch>
            <a:fillRect/>
          </a:stretch>
        </p:blipFill>
        <p:spPr>
          <a:xfrm>
            <a:off x="4343400" y="1645920"/>
            <a:ext cx="365760" cy="365760"/>
          </a:xfrm>
          <a:prstGeom prst="rect">
            <a:avLst/>
          </a:prstGeom>
        </p:spPr>
      </p:pic>
      <p:sp>
        <p:nvSpPr>
          <p:cNvPr id="8" name="Text 5"/>
          <p:cNvSpPr/>
          <p:nvPr/>
        </p:nvSpPr>
        <p:spPr>
          <a:xfrm>
            <a:off x="4937760" y="1554480"/>
            <a:ext cx="6583680" cy="5486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Specific factual questions answered correctly, with citations</a:t>
            </a:r>
            <a:endParaRPr lang="en-US" sz="1400" dirty="0"/>
          </a:p>
        </p:txBody>
      </p:sp>
      <p:sp>
        <p:nvSpPr>
          <p:cNvPr id="9" name="Shape 6"/>
          <p:cNvSpPr/>
          <p:nvPr/>
        </p:nvSpPr>
        <p:spPr>
          <a:xfrm>
            <a:off x="4297680" y="2468880"/>
            <a:ext cx="457200" cy="457200"/>
          </a:xfrm>
          <a:prstGeom prst="ellipse">
            <a:avLst/>
          </a:prstGeom>
          <a:solidFill>
            <a:srgbClr val="0F6E56"/>
          </a:solidFill>
          <a:ln/>
        </p:spPr>
      </p:sp>
      <p:pic>
        <p:nvPicPr>
          <p:cNvPr id="10" name="Image 1" descr="/home/claude/pdf_rag/presentation/icons_check.png">    </p:cNvPr>
          <p:cNvPicPr>
            <a:picLocks noChangeAspect="1"/>
          </p:cNvPicPr>
          <p:nvPr/>
        </p:nvPicPr>
        <p:blipFill>
          <a:blip r:embed="rId2"/>
          <a:stretch>
            <a:fillRect/>
          </a:stretch>
        </p:blipFill>
        <p:spPr>
          <a:xfrm>
            <a:off x="4343400" y="2514600"/>
            <a:ext cx="365760" cy="365760"/>
          </a:xfrm>
          <a:prstGeom prst="rect">
            <a:avLst/>
          </a:prstGeom>
        </p:spPr>
      </p:pic>
      <p:sp>
        <p:nvSpPr>
          <p:cNvPr id="11" name="Text 7"/>
          <p:cNvSpPr/>
          <p:nvPr/>
        </p:nvSpPr>
        <p:spPr>
          <a:xfrm>
            <a:off x="4937760" y="2423160"/>
            <a:ext cx="6583680" cy="5486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Broad summary questions routed to full-document mode</a:t>
            </a:r>
            <a:endParaRPr lang="en-US" sz="1400" dirty="0"/>
          </a:p>
        </p:txBody>
      </p:sp>
      <p:sp>
        <p:nvSpPr>
          <p:cNvPr id="12" name="Shape 8"/>
          <p:cNvSpPr/>
          <p:nvPr/>
        </p:nvSpPr>
        <p:spPr>
          <a:xfrm>
            <a:off x="4297680" y="3337560"/>
            <a:ext cx="457200" cy="457200"/>
          </a:xfrm>
          <a:prstGeom prst="ellipse">
            <a:avLst/>
          </a:prstGeom>
          <a:solidFill>
            <a:srgbClr val="0F6E56"/>
          </a:solidFill>
          <a:ln/>
        </p:spPr>
      </p:sp>
      <p:pic>
        <p:nvPicPr>
          <p:cNvPr id="13" name="Image 2" descr="/home/claude/pdf_rag/presentation/icons_check.png">    </p:cNvPr>
          <p:cNvPicPr>
            <a:picLocks noChangeAspect="1"/>
          </p:cNvPicPr>
          <p:nvPr/>
        </p:nvPicPr>
        <p:blipFill>
          <a:blip r:embed="rId3"/>
          <a:stretch>
            <a:fillRect/>
          </a:stretch>
        </p:blipFill>
        <p:spPr>
          <a:xfrm>
            <a:off x="4343400" y="3383280"/>
            <a:ext cx="365760" cy="365760"/>
          </a:xfrm>
          <a:prstGeom prst="rect">
            <a:avLst/>
          </a:prstGeom>
        </p:spPr>
      </p:pic>
      <p:sp>
        <p:nvSpPr>
          <p:cNvPr id="14" name="Text 9"/>
          <p:cNvSpPr/>
          <p:nvPr/>
        </p:nvSpPr>
        <p:spPr>
          <a:xfrm>
            <a:off x="4937760" y="3291840"/>
            <a:ext cx="6583680" cy="5486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Similar numeric identifiers (e.g. task 3.1.2 vs 3.2.2) correctly distinguished</a:t>
            </a:r>
            <a:endParaRPr lang="en-US" sz="1400" dirty="0"/>
          </a:p>
        </p:txBody>
      </p:sp>
      <p:sp>
        <p:nvSpPr>
          <p:cNvPr id="15" name="Shape 10"/>
          <p:cNvSpPr/>
          <p:nvPr/>
        </p:nvSpPr>
        <p:spPr>
          <a:xfrm>
            <a:off x="4297680" y="4206240"/>
            <a:ext cx="457200" cy="457200"/>
          </a:xfrm>
          <a:prstGeom prst="ellipse">
            <a:avLst/>
          </a:prstGeom>
          <a:solidFill>
            <a:srgbClr val="0F6E56"/>
          </a:solidFill>
          <a:ln/>
        </p:spPr>
      </p:sp>
      <p:pic>
        <p:nvPicPr>
          <p:cNvPr id="16" name="Image 3" descr="/home/claude/pdf_rag/presentation/icons_check.png">    </p:cNvPr>
          <p:cNvPicPr>
            <a:picLocks noChangeAspect="1"/>
          </p:cNvPicPr>
          <p:nvPr/>
        </p:nvPicPr>
        <p:blipFill>
          <a:blip r:embed="rId4"/>
          <a:stretch>
            <a:fillRect/>
          </a:stretch>
        </p:blipFill>
        <p:spPr>
          <a:xfrm>
            <a:off x="4343400" y="4251960"/>
            <a:ext cx="365760" cy="365760"/>
          </a:xfrm>
          <a:prstGeom prst="rect">
            <a:avLst/>
          </a:prstGeom>
        </p:spPr>
      </p:pic>
      <p:sp>
        <p:nvSpPr>
          <p:cNvPr id="17" name="Text 11"/>
          <p:cNvSpPr/>
          <p:nvPr/>
        </p:nvSpPr>
        <p:spPr>
          <a:xfrm>
            <a:off x="4937760" y="4160520"/>
            <a:ext cx="6583680" cy="5486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Multi-document queries cite the correct source file</a:t>
            </a:r>
            <a:endParaRPr lang="en-US" sz="1400" dirty="0"/>
          </a:p>
        </p:txBody>
      </p:sp>
      <p:sp>
        <p:nvSpPr>
          <p:cNvPr id="18" name="Text 12"/>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Demo</a:t>
            </a:r>
            <a:endParaRPr lang="en-US" sz="3000" dirty="0"/>
          </a:p>
        </p:txBody>
      </p:sp>
      <p:sp>
        <p:nvSpPr>
          <p:cNvPr id="3" name="Shape 1"/>
          <p:cNvSpPr/>
          <p:nvPr/>
        </p:nvSpPr>
        <p:spPr>
          <a:xfrm>
            <a:off x="548640" y="1737360"/>
            <a:ext cx="3520440" cy="3566160"/>
          </a:xfrm>
          <a:prstGeom prst="roundRect">
            <a:avLst>
              <a:gd name="adj" fmla="val 2597"/>
            </a:avLst>
          </a:prstGeom>
          <a:solidFill>
            <a:srgbClr val="F5F6F7"/>
          </a:solidFill>
          <a:ln w="12700">
            <a:solidFill>
              <a:srgbClr val="E2E4E8"/>
            </a:solidFill>
            <a:prstDash val="dash"/>
          </a:ln>
        </p:spPr>
      </p:sp>
      <p:sp>
        <p:nvSpPr>
          <p:cNvPr id="4" name="Text 2"/>
          <p:cNvSpPr/>
          <p:nvPr/>
        </p:nvSpPr>
        <p:spPr>
          <a:xfrm>
            <a:off x="548640" y="3063240"/>
            <a:ext cx="3520440" cy="365760"/>
          </a:xfrm>
          <a:prstGeom prst="rect">
            <a:avLst/>
          </a:prstGeom>
          <a:noFill/>
          <a:ln/>
        </p:spPr>
        <p:txBody>
          <a:bodyPr wrap="square" lIns="0" tIns="0" rIns="0" bIns="0" rtlCol="0" anchor="ctr"/>
          <a:lstStyle/>
          <a:p>
            <a:pPr algn="ctr" indent="0" marL="0">
              <a:buNone/>
            </a:pPr>
            <a:r>
              <a:rPr lang="en-US" sz="1200" i="1" dirty="0">
                <a:solidFill>
                  <a:srgbClr val="5F5E5A"/>
                </a:solidFill>
                <a:latin typeface="Calibri" pitchFamily="34" charset="0"/>
                <a:ea typeface="Calibri" pitchFamily="34" charset="-122"/>
                <a:cs typeface="Calibri" pitchFamily="34" charset="-120"/>
              </a:rPr>
              <a:t>[ insert screenshot ]</a:t>
            </a:r>
            <a:endParaRPr lang="en-US" sz="1200" dirty="0"/>
          </a:p>
        </p:txBody>
      </p:sp>
      <p:sp>
        <p:nvSpPr>
          <p:cNvPr id="5" name="Text 3"/>
          <p:cNvSpPr/>
          <p:nvPr/>
        </p:nvSpPr>
        <p:spPr>
          <a:xfrm>
            <a:off x="731520" y="4754880"/>
            <a:ext cx="3154680" cy="457200"/>
          </a:xfrm>
          <a:prstGeom prst="rect">
            <a:avLst/>
          </a:prstGeom>
          <a:noFill/>
          <a:ln/>
        </p:spPr>
        <p:txBody>
          <a:bodyPr wrap="square" lIns="0" tIns="0" rIns="0" bIns="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Screenshot: PDF upload and indexing screen</a:t>
            </a:r>
            <a:endParaRPr lang="en-US" sz="1200" dirty="0"/>
          </a:p>
        </p:txBody>
      </p:sp>
      <p:sp>
        <p:nvSpPr>
          <p:cNvPr id="6" name="Shape 4"/>
          <p:cNvSpPr/>
          <p:nvPr/>
        </p:nvSpPr>
        <p:spPr>
          <a:xfrm>
            <a:off x="4389120" y="1737360"/>
            <a:ext cx="3520440" cy="3566160"/>
          </a:xfrm>
          <a:prstGeom prst="roundRect">
            <a:avLst>
              <a:gd name="adj" fmla="val 2597"/>
            </a:avLst>
          </a:prstGeom>
          <a:solidFill>
            <a:srgbClr val="F5F6F7"/>
          </a:solidFill>
          <a:ln w="12700">
            <a:solidFill>
              <a:srgbClr val="E2E4E8"/>
            </a:solidFill>
            <a:prstDash val="dash"/>
          </a:ln>
        </p:spPr>
      </p:sp>
      <p:sp>
        <p:nvSpPr>
          <p:cNvPr id="7" name="Text 5"/>
          <p:cNvSpPr/>
          <p:nvPr/>
        </p:nvSpPr>
        <p:spPr>
          <a:xfrm>
            <a:off x="4389120" y="3063240"/>
            <a:ext cx="3520440" cy="365760"/>
          </a:xfrm>
          <a:prstGeom prst="rect">
            <a:avLst/>
          </a:prstGeom>
          <a:noFill/>
          <a:ln/>
        </p:spPr>
        <p:txBody>
          <a:bodyPr wrap="square" lIns="0" tIns="0" rIns="0" bIns="0" rtlCol="0" anchor="ctr"/>
          <a:lstStyle/>
          <a:p>
            <a:pPr algn="ctr" indent="0" marL="0">
              <a:buNone/>
            </a:pPr>
            <a:r>
              <a:rPr lang="en-US" sz="1200" i="1" dirty="0">
                <a:solidFill>
                  <a:srgbClr val="5F5E5A"/>
                </a:solidFill>
                <a:latin typeface="Calibri" pitchFamily="34" charset="0"/>
                <a:ea typeface="Calibri" pitchFamily="34" charset="-122"/>
                <a:cs typeface="Calibri" pitchFamily="34" charset="-120"/>
              </a:rPr>
              <a:t>[ insert screenshot ]</a:t>
            </a:r>
            <a:endParaRPr lang="en-US" sz="1200" dirty="0"/>
          </a:p>
        </p:txBody>
      </p:sp>
      <p:sp>
        <p:nvSpPr>
          <p:cNvPr id="8" name="Text 6"/>
          <p:cNvSpPr/>
          <p:nvPr/>
        </p:nvSpPr>
        <p:spPr>
          <a:xfrm>
            <a:off x="4572000" y="4754880"/>
            <a:ext cx="3154680" cy="457200"/>
          </a:xfrm>
          <a:prstGeom prst="rect">
            <a:avLst/>
          </a:prstGeom>
          <a:noFill/>
          <a:ln/>
        </p:spPr>
        <p:txBody>
          <a:bodyPr wrap="square" lIns="0" tIns="0" rIns="0" bIns="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Screenshot: chat with a cited answer</a:t>
            </a:r>
            <a:endParaRPr lang="en-US" sz="1200" dirty="0"/>
          </a:p>
        </p:txBody>
      </p:sp>
      <p:sp>
        <p:nvSpPr>
          <p:cNvPr id="9" name="Shape 7"/>
          <p:cNvSpPr/>
          <p:nvPr/>
        </p:nvSpPr>
        <p:spPr>
          <a:xfrm>
            <a:off x="8229600" y="1737360"/>
            <a:ext cx="3520440" cy="3566160"/>
          </a:xfrm>
          <a:prstGeom prst="roundRect">
            <a:avLst>
              <a:gd name="adj" fmla="val 2597"/>
            </a:avLst>
          </a:prstGeom>
          <a:solidFill>
            <a:srgbClr val="F5F6F7"/>
          </a:solidFill>
          <a:ln w="12700">
            <a:solidFill>
              <a:srgbClr val="E2E4E8"/>
            </a:solidFill>
            <a:prstDash val="dash"/>
          </a:ln>
        </p:spPr>
      </p:sp>
      <p:sp>
        <p:nvSpPr>
          <p:cNvPr id="10" name="Text 8"/>
          <p:cNvSpPr/>
          <p:nvPr/>
        </p:nvSpPr>
        <p:spPr>
          <a:xfrm>
            <a:off x="8229600" y="3063240"/>
            <a:ext cx="3520440" cy="365760"/>
          </a:xfrm>
          <a:prstGeom prst="rect">
            <a:avLst/>
          </a:prstGeom>
          <a:noFill/>
          <a:ln/>
        </p:spPr>
        <p:txBody>
          <a:bodyPr wrap="square" lIns="0" tIns="0" rIns="0" bIns="0" rtlCol="0" anchor="ctr"/>
          <a:lstStyle/>
          <a:p>
            <a:pPr algn="ctr" indent="0" marL="0">
              <a:buNone/>
            </a:pPr>
            <a:r>
              <a:rPr lang="en-US" sz="1200" i="1" dirty="0">
                <a:solidFill>
                  <a:srgbClr val="5F5E5A"/>
                </a:solidFill>
                <a:latin typeface="Calibri" pitchFamily="34" charset="0"/>
                <a:ea typeface="Calibri" pitchFamily="34" charset="-122"/>
                <a:cs typeface="Calibri" pitchFamily="34" charset="-120"/>
              </a:rPr>
              <a:t>[ insert screenshot ]</a:t>
            </a:r>
            <a:endParaRPr lang="en-US" sz="1200" dirty="0"/>
          </a:p>
        </p:txBody>
      </p:sp>
      <p:sp>
        <p:nvSpPr>
          <p:cNvPr id="11" name="Text 9"/>
          <p:cNvSpPr/>
          <p:nvPr/>
        </p:nvSpPr>
        <p:spPr>
          <a:xfrm>
            <a:off x="8412480" y="4754880"/>
            <a:ext cx="3154680" cy="457200"/>
          </a:xfrm>
          <a:prstGeom prst="rect">
            <a:avLst/>
          </a:prstGeom>
          <a:noFill/>
          <a:ln/>
        </p:spPr>
        <p:txBody>
          <a:bodyPr wrap="square" lIns="0" tIns="0" rIns="0" bIns="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Screenshot: loaded-documents panel</a:t>
            </a:r>
            <a:endParaRPr lang="en-US" sz="1200" dirty="0"/>
          </a:p>
        </p:txBody>
      </p:sp>
      <p:sp>
        <p:nvSpPr>
          <p:cNvPr id="12" name="Text 10"/>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Challenges faced</a:t>
            </a:r>
            <a:endParaRPr lang="en-US" sz="3000" dirty="0"/>
          </a:p>
        </p:txBody>
      </p:sp>
      <p:sp>
        <p:nvSpPr>
          <p:cNvPr id="3" name="Shape 1"/>
          <p:cNvSpPr/>
          <p:nvPr/>
        </p:nvSpPr>
        <p:spPr>
          <a:xfrm>
            <a:off x="548640" y="1554480"/>
            <a:ext cx="594360" cy="594360"/>
          </a:xfrm>
          <a:prstGeom prst="ellipse">
            <a:avLst/>
          </a:prstGeom>
          <a:solidFill>
            <a:srgbClr val="534AB7"/>
          </a:solidFill>
          <a:ln/>
        </p:spPr>
      </p:sp>
      <p:pic>
        <p:nvPicPr>
          <p:cNvPr id="4" name="Image 0" descr="/home/claude/pdf_rag/presentation/icons_bolt.png">    </p:cNvPr>
          <p:cNvPicPr>
            <a:picLocks noChangeAspect="1"/>
          </p:cNvPicPr>
          <p:nvPr/>
        </p:nvPicPr>
        <p:blipFill>
          <a:blip r:embed="rId1"/>
          <a:stretch>
            <a:fillRect/>
          </a:stretch>
        </p:blipFill>
        <p:spPr>
          <a:xfrm>
            <a:off x="608076" y="1613916"/>
            <a:ext cx="475488" cy="475488"/>
          </a:xfrm>
          <a:prstGeom prst="rect">
            <a:avLst/>
          </a:prstGeom>
        </p:spPr>
      </p:pic>
      <p:sp>
        <p:nvSpPr>
          <p:cNvPr id="5" name="Text 2"/>
          <p:cNvSpPr/>
          <p:nvPr/>
        </p:nvSpPr>
        <p:spPr>
          <a:xfrm>
            <a:off x="1325880" y="15087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CPU-only constraint</a:t>
            </a:r>
            <a:endParaRPr lang="en-US" sz="1500" dirty="0"/>
          </a:p>
        </p:txBody>
      </p:sp>
      <p:sp>
        <p:nvSpPr>
          <p:cNvPr id="6" name="Text 3"/>
          <p:cNvSpPr/>
          <p:nvPr/>
        </p:nvSpPr>
        <p:spPr>
          <a:xfrm>
            <a:off x="1325880" y="18928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Chose lightweight models (MiniLM, FAISS flat index) that run efficiently without a GPU</a:t>
            </a:r>
            <a:endParaRPr lang="en-US" sz="1250" dirty="0"/>
          </a:p>
        </p:txBody>
      </p:sp>
      <p:sp>
        <p:nvSpPr>
          <p:cNvPr id="7" name="Shape 4"/>
          <p:cNvSpPr/>
          <p:nvPr/>
        </p:nvSpPr>
        <p:spPr>
          <a:xfrm>
            <a:off x="6400800" y="1554480"/>
            <a:ext cx="594360" cy="594360"/>
          </a:xfrm>
          <a:prstGeom prst="ellipse">
            <a:avLst/>
          </a:prstGeom>
          <a:solidFill>
            <a:srgbClr val="534AB7"/>
          </a:solidFill>
          <a:ln/>
        </p:spPr>
      </p:sp>
      <p:pic>
        <p:nvPicPr>
          <p:cNvPr id="8" name="Image 1" descr="/home/claude/pdf_rag/presentation/icons_search.png">    </p:cNvPr>
          <p:cNvPicPr>
            <a:picLocks noChangeAspect="1"/>
          </p:cNvPicPr>
          <p:nvPr/>
        </p:nvPicPr>
        <p:blipFill>
          <a:blip r:embed="rId2"/>
          <a:stretch>
            <a:fillRect/>
          </a:stretch>
        </p:blipFill>
        <p:spPr>
          <a:xfrm>
            <a:off x="6460236" y="1613916"/>
            <a:ext cx="475488" cy="475488"/>
          </a:xfrm>
          <a:prstGeom prst="rect">
            <a:avLst/>
          </a:prstGeom>
        </p:spPr>
      </p:pic>
      <p:sp>
        <p:nvSpPr>
          <p:cNvPr id="9" name="Text 5"/>
          <p:cNvSpPr/>
          <p:nvPr/>
        </p:nvSpPr>
        <p:spPr>
          <a:xfrm>
            <a:off x="7178040" y="15087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Numeric identifiers confuse embeddings</a:t>
            </a:r>
            <a:endParaRPr lang="en-US" sz="1500" dirty="0"/>
          </a:p>
        </p:txBody>
      </p:sp>
      <p:sp>
        <p:nvSpPr>
          <p:cNvPr id="10" name="Text 6"/>
          <p:cNvSpPr/>
          <p:nvPr/>
        </p:nvSpPr>
        <p:spPr>
          <a:xfrm>
            <a:off x="7178040" y="18928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Vector search alone couldn't reliably distinguish similar task numbers — solved with hybrid retrieval</a:t>
            </a:r>
            <a:endParaRPr lang="en-US" sz="1250" dirty="0"/>
          </a:p>
        </p:txBody>
      </p:sp>
      <p:sp>
        <p:nvSpPr>
          <p:cNvPr id="11" name="Shape 7"/>
          <p:cNvSpPr/>
          <p:nvPr/>
        </p:nvSpPr>
        <p:spPr>
          <a:xfrm>
            <a:off x="548640" y="3611880"/>
            <a:ext cx="594360" cy="594360"/>
          </a:xfrm>
          <a:prstGeom prst="ellipse">
            <a:avLst/>
          </a:prstGeom>
          <a:solidFill>
            <a:srgbClr val="534AB7"/>
          </a:solidFill>
          <a:ln/>
        </p:spPr>
      </p:sp>
      <p:pic>
        <p:nvPicPr>
          <p:cNvPr id="12" name="Image 2" descr="/home/claude/pdf_rag/presentation/icons_chunk.png">    </p:cNvPr>
          <p:cNvPicPr>
            <a:picLocks noChangeAspect="1"/>
          </p:cNvPicPr>
          <p:nvPr/>
        </p:nvPicPr>
        <p:blipFill>
          <a:blip r:embed="rId3"/>
          <a:stretch>
            <a:fillRect/>
          </a:stretch>
        </p:blipFill>
        <p:spPr>
          <a:xfrm>
            <a:off x="608076" y="3671316"/>
            <a:ext cx="475488" cy="475488"/>
          </a:xfrm>
          <a:prstGeom prst="rect">
            <a:avLst/>
          </a:prstGeom>
        </p:spPr>
      </p:pic>
      <p:sp>
        <p:nvSpPr>
          <p:cNvPr id="13" name="Text 8"/>
          <p:cNvSpPr/>
          <p:nvPr/>
        </p:nvSpPr>
        <p:spPr>
          <a:xfrm>
            <a:off x="1325880" y="35661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Chunking boundaries</a:t>
            </a:r>
            <a:endParaRPr lang="en-US" sz="1500" dirty="0"/>
          </a:p>
        </p:txBody>
      </p:sp>
      <p:sp>
        <p:nvSpPr>
          <p:cNvPr id="14" name="Text 9"/>
          <p:cNvSpPr/>
          <p:nvPr/>
        </p:nvSpPr>
        <p:spPr>
          <a:xfrm>
            <a:off x="1325880" y="39502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Splitting by markdown headers keeps sections coherent, but pages without clear headings need careful handling</a:t>
            </a:r>
            <a:endParaRPr lang="en-US" sz="1250" dirty="0"/>
          </a:p>
        </p:txBody>
      </p:sp>
      <p:sp>
        <p:nvSpPr>
          <p:cNvPr id="15" name="Shape 10"/>
          <p:cNvSpPr/>
          <p:nvPr/>
        </p:nvSpPr>
        <p:spPr>
          <a:xfrm>
            <a:off x="6400800" y="3611880"/>
            <a:ext cx="594360" cy="594360"/>
          </a:xfrm>
          <a:prstGeom prst="ellipse">
            <a:avLst/>
          </a:prstGeom>
          <a:solidFill>
            <a:srgbClr val="534AB7"/>
          </a:solidFill>
          <a:ln/>
        </p:spPr>
      </p:sp>
      <p:pic>
        <p:nvPicPr>
          <p:cNvPr id="16" name="Image 3" descr="/home/claude/pdf_rag/presentation/icons_target.png">    </p:cNvPr>
          <p:cNvPicPr>
            <a:picLocks noChangeAspect="1"/>
          </p:cNvPicPr>
          <p:nvPr/>
        </p:nvPicPr>
        <p:blipFill>
          <a:blip r:embed="rId4"/>
          <a:stretch>
            <a:fillRect/>
          </a:stretch>
        </p:blipFill>
        <p:spPr>
          <a:xfrm>
            <a:off x="6460236" y="3671316"/>
            <a:ext cx="475488" cy="475488"/>
          </a:xfrm>
          <a:prstGeom prst="rect">
            <a:avLst/>
          </a:prstGeom>
        </p:spPr>
      </p:pic>
      <p:sp>
        <p:nvSpPr>
          <p:cNvPr id="17" name="Text 11"/>
          <p:cNvSpPr/>
          <p:nvPr/>
        </p:nvSpPr>
        <p:spPr>
          <a:xfrm>
            <a:off x="7178040" y="35661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Broad vs. specific questions</a:t>
            </a:r>
            <a:endParaRPr lang="en-US" sz="1500" dirty="0"/>
          </a:p>
        </p:txBody>
      </p:sp>
      <p:sp>
        <p:nvSpPr>
          <p:cNvPr id="18" name="Text 12"/>
          <p:cNvSpPr/>
          <p:nvPr/>
        </p:nvSpPr>
        <p:spPr>
          <a:xfrm>
            <a:off x="7178040" y="39502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A single retrieval strategy didn't work for both summaries and fact lookups — needed explicit routing</a:t>
            </a:r>
            <a:endParaRPr lang="en-US" sz="1250" dirty="0"/>
          </a:p>
        </p:txBody>
      </p:sp>
      <p:sp>
        <p:nvSpPr>
          <p:cNvPr id="19" name="Text 13"/>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Future scope</a:t>
            </a:r>
            <a:endParaRPr lang="en-US" sz="3000" dirty="0"/>
          </a:p>
        </p:txBody>
      </p:sp>
      <p:sp>
        <p:nvSpPr>
          <p:cNvPr id="3" name="Shape 1"/>
          <p:cNvSpPr/>
          <p:nvPr/>
        </p:nvSpPr>
        <p:spPr>
          <a:xfrm>
            <a:off x="640080" y="1691640"/>
            <a:ext cx="548640" cy="548640"/>
          </a:xfrm>
          <a:prstGeom prst="ellipse">
            <a:avLst/>
          </a:prstGeom>
          <a:solidFill>
            <a:srgbClr val="0F6E56"/>
          </a:solidFill>
          <a:ln/>
        </p:spPr>
      </p:sp>
      <p:pic>
        <p:nvPicPr>
          <p:cNvPr id="4" name="Image 0" descr="/home/claude/pdf_rag/presentation/icons_future.png">    </p:cNvPr>
          <p:cNvPicPr>
            <a:picLocks noChangeAspect="1"/>
          </p:cNvPicPr>
          <p:nvPr/>
        </p:nvPicPr>
        <p:blipFill>
          <a:blip r:embed="rId1"/>
          <a:stretch>
            <a:fillRect/>
          </a:stretch>
        </p:blipFill>
        <p:spPr>
          <a:xfrm>
            <a:off x="694944" y="1746504"/>
            <a:ext cx="438912" cy="438912"/>
          </a:xfrm>
          <a:prstGeom prst="rect">
            <a:avLst/>
          </a:prstGeom>
        </p:spPr>
      </p:pic>
      <p:sp>
        <p:nvSpPr>
          <p:cNvPr id="5" name="Text 2"/>
          <p:cNvSpPr/>
          <p:nvPr/>
        </p:nvSpPr>
        <p:spPr>
          <a:xfrm>
            <a:off x="1371600" y="169164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Support additional formats: Word, PowerPoint, scanned documents via OCR</a:t>
            </a:r>
            <a:endParaRPr lang="en-US" sz="1600" dirty="0"/>
          </a:p>
        </p:txBody>
      </p:sp>
      <p:sp>
        <p:nvSpPr>
          <p:cNvPr id="6" name="Shape 3"/>
          <p:cNvSpPr/>
          <p:nvPr/>
        </p:nvSpPr>
        <p:spPr>
          <a:xfrm>
            <a:off x="640080" y="2651760"/>
            <a:ext cx="548640" cy="548640"/>
          </a:xfrm>
          <a:prstGeom prst="ellipse">
            <a:avLst/>
          </a:prstGeom>
          <a:solidFill>
            <a:srgbClr val="0F6E56"/>
          </a:solidFill>
          <a:ln/>
        </p:spPr>
      </p:sp>
      <p:pic>
        <p:nvPicPr>
          <p:cNvPr id="7" name="Image 1" descr="/home/claude/pdf_rag/presentation/icons_database.png">    </p:cNvPr>
          <p:cNvPicPr>
            <a:picLocks noChangeAspect="1"/>
          </p:cNvPicPr>
          <p:nvPr/>
        </p:nvPicPr>
        <p:blipFill>
          <a:blip r:embed="rId2"/>
          <a:stretch>
            <a:fillRect/>
          </a:stretch>
        </p:blipFill>
        <p:spPr>
          <a:xfrm>
            <a:off x="694944" y="2706624"/>
            <a:ext cx="438912" cy="438912"/>
          </a:xfrm>
          <a:prstGeom prst="rect">
            <a:avLst/>
          </a:prstGeom>
        </p:spPr>
      </p:pic>
      <p:sp>
        <p:nvSpPr>
          <p:cNvPr id="8" name="Text 4"/>
          <p:cNvSpPr/>
          <p:nvPr/>
        </p:nvSpPr>
        <p:spPr>
          <a:xfrm>
            <a:off x="1371600" y="265176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Persistent index storage, so documents don't need re-uploading each session</a:t>
            </a:r>
            <a:endParaRPr lang="en-US" sz="1600" dirty="0"/>
          </a:p>
        </p:txBody>
      </p:sp>
      <p:sp>
        <p:nvSpPr>
          <p:cNvPr id="9" name="Shape 5"/>
          <p:cNvSpPr/>
          <p:nvPr/>
        </p:nvSpPr>
        <p:spPr>
          <a:xfrm>
            <a:off x="640080" y="3611880"/>
            <a:ext cx="548640" cy="548640"/>
          </a:xfrm>
          <a:prstGeom prst="ellipse">
            <a:avLst/>
          </a:prstGeom>
          <a:solidFill>
            <a:srgbClr val="0F6E56"/>
          </a:solidFill>
          <a:ln/>
        </p:spPr>
      </p:sp>
      <p:pic>
        <p:nvPicPr>
          <p:cNvPr id="10" name="Image 2" descr="/home/claude/pdf_rag/presentation/icons_target.png">    </p:cNvPr>
          <p:cNvPicPr>
            <a:picLocks noChangeAspect="1"/>
          </p:cNvPicPr>
          <p:nvPr/>
        </p:nvPicPr>
        <p:blipFill>
          <a:blip r:embed="rId3"/>
          <a:stretch>
            <a:fillRect/>
          </a:stretch>
        </p:blipFill>
        <p:spPr>
          <a:xfrm>
            <a:off x="694944" y="3666744"/>
            <a:ext cx="438912" cy="438912"/>
          </a:xfrm>
          <a:prstGeom prst="rect">
            <a:avLst/>
          </a:prstGeom>
        </p:spPr>
      </p:pic>
      <p:sp>
        <p:nvSpPr>
          <p:cNvPr id="11" name="Text 6"/>
          <p:cNvSpPr/>
          <p:nvPr/>
        </p:nvSpPr>
        <p:spPr>
          <a:xfrm>
            <a:off x="1371600" y="361188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Cross-encoder re-ranking for higher retrieval precision</a:t>
            </a:r>
            <a:endParaRPr lang="en-US" sz="1600" dirty="0"/>
          </a:p>
        </p:txBody>
      </p:sp>
      <p:sp>
        <p:nvSpPr>
          <p:cNvPr id="12" name="Shape 7"/>
          <p:cNvSpPr/>
          <p:nvPr/>
        </p:nvSpPr>
        <p:spPr>
          <a:xfrm>
            <a:off x="640080" y="4572000"/>
            <a:ext cx="548640" cy="548640"/>
          </a:xfrm>
          <a:prstGeom prst="ellipse">
            <a:avLst/>
          </a:prstGeom>
          <a:solidFill>
            <a:srgbClr val="0F6E56"/>
          </a:solidFill>
          <a:ln/>
        </p:spPr>
      </p:sp>
      <p:pic>
        <p:nvPicPr>
          <p:cNvPr id="13" name="Image 3" descr="/home/claude/pdf_rag/presentation/icons_chat.png">    </p:cNvPr>
          <p:cNvPicPr>
            <a:picLocks noChangeAspect="1"/>
          </p:cNvPicPr>
          <p:nvPr/>
        </p:nvPicPr>
        <p:blipFill>
          <a:blip r:embed="rId4"/>
          <a:stretch>
            <a:fillRect/>
          </a:stretch>
        </p:blipFill>
        <p:spPr>
          <a:xfrm>
            <a:off x="694944" y="4626864"/>
            <a:ext cx="438912" cy="438912"/>
          </a:xfrm>
          <a:prstGeom prst="rect">
            <a:avLst/>
          </a:prstGeom>
        </p:spPr>
      </p:pic>
      <p:sp>
        <p:nvSpPr>
          <p:cNvPr id="14" name="Text 8"/>
          <p:cNvSpPr/>
          <p:nvPr/>
        </p:nvSpPr>
        <p:spPr>
          <a:xfrm>
            <a:off x="1371600" y="457200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Multi-user support with authentication and separate document collections</a:t>
            </a:r>
            <a:endParaRPr lang="en-US" sz="1600" dirty="0"/>
          </a:p>
        </p:txBody>
      </p:sp>
      <p:sp>
        <p:nvSpPr>
          <p:cNvPr id="15" name="Text 9"/>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3D62"/>
          </a:solidFill>
          <a:ln/>
        </p:spPr>
      </p:sp>
      <p:sp>
        <p:nvSpPr>
          <p:cNvPr id="3" name="Text 1"/>
          <p:cNvSpPr/>
          <p:nvPr/>
        </p:nvSpPr>
        <p:spPr>
          <a:xfrm>
            <a:off x="822960" y="2651760"/>
            <a:ext cx="10543032"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4" name="Text 2"/>
          <p:cNvSpPr/>
          <p:nvPr/>
        </p:nvSpPr>
        <p:spPr>
          <a:xfrm>
            <a:off x="822960" y="3566160"/>
            <a:ext cx="10543032"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2026-07-19T17:38:01Z</dcterms:created>
  <dcterms:modified xsi:type="dcterms:W3CDTF">2026-07-19T17:38:01Z</dcterms:modified>
</cp:coreProperties>
</file>